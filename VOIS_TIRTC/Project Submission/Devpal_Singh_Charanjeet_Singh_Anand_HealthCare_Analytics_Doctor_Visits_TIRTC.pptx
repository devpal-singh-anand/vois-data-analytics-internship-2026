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400" r:id="rId11"/>
    <p:sldId id="401" r:id="rId12"/>
    <p:sldId id="402" r:id="rId13"/>
    <p:sldId id="403" r:id="rId14"/>
    <p:sldId id="404" r:id="rId15"/>
    <p:sldId id="405" r:id="rId16"/>
    <p:sldId id="406"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colab.research.google.com/drive/11qJ0UvQDSo-TS6u822ucA9t_-8yh-QcZ?usp=sharing" TargetMode="External"/><Relationship Id="rId2" Type="http://schemas.openxmlformats.org/officeDocument/2006/relationships/hyperlink" Target="https://github.com/devpal-singh-anand/VOIS-Data-Analytics-Internship-2026/tree/main/VOIS_TIRTC/Project%20Submission" TargetMode="External"/><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261757" y="4141999"/>
            <a:ext cx="5568039" cy="861497"/>
          </a:xfrm>
        </p:spPr>
        <p:txBody>
          <a:bodyPr>
            <a:noAutofit/>
          </a:bodyPr>
          <a:lstStyle/>
          <a:p>
            <a:pPr algn="r"/>
            <a:r>
              <a:rPr lang="en-US" sz="1800" b="0" dirty="0">
                <a:solidFill>
                  <a:schemeClr val="tx1"/>
                </a:solidFill>
              </a:rPr>
              <a:t>Devpal Singh Anand</a:t>
            </a:r>
            <a:endParaRPr lang="en-IN" sz="1800" b="0" dirty="0">
              <a:solidFill>
                <a:schemeClr val="tx1"/>
              </a:solidFill>
            </a:endParaRPr>
          </a:p>
          <a:p>
            <a:pPr algn="r"/>
            <a:r>
              <a:rPr lang="en-US" sz="1800" b="0" dirty="0">
                <a:solidFill>
                  <a:schemeClr val="tx1"/>
                </a:solidFill>
              </a:rPr>
              <a:t>Amity University Online, Noida</a:t>
            </a:r>
          </a:p>
          <a:p>
            <a:pPr algn="r"/>
            <a:r>
              <a:rPr lang="en-US" sz="1800" b="0" dirty="0">
                <a:solidFill>
                  <a:schemeClr val="tx1"/>
                </a:solidFill>
              </a:rPr>
              <a:t>AICTE STU ID : STU658299becb6581703057854</a:t>
            </a:r>
            <a:endParaRPr lang="en-IN" sz="18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fontScale="90000"/>
          </a:bodyPr>
          <a:lstStyle/>
          <a:p>
            <a:r>
              <a:rPr lang="en-GB" sz="3200" dirty="0"/>
              <a:t>Healthcare Analytics for Doctor </a:t>
            </a:r>
            <a:r>
              <a:rPr lang="en-GB" sz="3200" dirty="0" err="1"/>
              <a:t>Visits_TIRTC</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D6A443D-82A0-8057-7EBE-114079A989D4}"/>
              </a:ext>
            </a:extLst>
          </p:cNvPr>
          <p:cNvSpPr/>
          <p:nvPr/>
        </p:nvSpPr>
        <p:spPr>
          <a:xfrm>
            <a:off x="6602607" y="1537818"/>
            <a:ext cx="532977" cy="584898"/>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930729" y="1340528"/>
            <a:ext cx="7405108" cy="3607987"/>
          </a:xfrm>
        </p:spPr>
        <p:txBody>
          <a:bodyPr>
            <a:noAutofit/>
          </a:bodyPr>
          <a:lstStyle/>
          <a:p>
            <a:pPr marL="0" indent="0">
              <a:lnSpc>
                <a:spcPct val="150000"/>
              </a:lnSpc>
              <a:buNone/>
            </a:pPr>
            <a:r>
              <a:rPr lang="en-US" sz="2200" b="1" dirty="0"/>
              <a:t>A single average of doctor visits can hide differences in healthcare utilization across patient groups. This project analyzes 5,190 patient records to examine how doctor visits vary with illness, chronic conditions and health coverage, helping identify patterns that hospital management should investigate before making operational decisions.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33895" y="1605313"/>
            <a:ext cx="8859158" cy="4200000"/>
          </a:xfrm>
        </p:spPr>
        <p:txBody>
          <a:bodyPr>
            <a:normAutofit/>
          </a:bodyPr>
          <a:lstStyle/>
          <a:p>
            <a:pPr>
              <a:lnSpc>
                <a:spcPct val="150000"/>
              </a:lnSpc>
            </a:pPr>
            <a:r>
              <a:rPr lang="en-US" sz="2200" b="0" dirty="0"/>
              <a:t>Healthcare Analytics for Doctor Visits explores 5,190 patient records to identify patterns in healthcare utilization. Using Python on Google </a:t>
            </a:r>
            <a:r>
              <a:rPr lang="en-US" sz="2200" b="0" dirty="0" err="1"/>
              <a:t>Colab</a:t>
            </a:r>
            <a:r>
              <a:rPr lang="en-US" sz="2200" b="0" dirty="0"/>
              <a:t>, the analysis covers data cleaning, outlier assessment, univariate, bivariate and multivariate analysis, and statistical testing with Mann–Whitney U, Kruskal–Wallis, chi-square and Spearman correlation. The project concludes with five key findings and data-driven recommendations to support hospital planning.</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8" name="TextBox 7">
            <a:extLst>
              <a:ext uri="{FF2B5EF4-FFF2-40B4-BE49-F238E27FC236}">
                <a16:creationId xmlns:a16="http://schemas.microsoft.com/office/drawing/2014/main" id="{315E1787-F077-EBEA-911A-AD16B0F14564}"/>
              </a:ext>
            </a:extLst>
          </p:cNvPr>
          <p:cNvSpPr txBox="1"/>
          <p:nvPr/>
        </p:nvSpPr>
        <p:spPr>
          <a:xfrm>
            <a:off x="633895" y="851260"/>
            <a:ext cx="6106884" cy="754053"/>
          </a:xfrm>
          <a:prstGeom prst="rect">
            <a:avLst/>
          </a:prstGeom>
          <a:noFill/>
        </p:spPr>
        <p:txBody>
          <a:bodyPr wrap="square">
            <a:spAutoFit/>
          </a:bodyPr>
          <a:lstStyle/>
          <a:p>
            <a:r>
              <a:rPr lang="en-GB" sz="4300" b="1" dirty="0"/>
              <a:t>Project Description</a:t>
            </a:r>
            <a:endParaRPr lang="en-US" sz="43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nSpc>
                <a:spcPct val="150000"/>
              </a:lnSpc>
            </a:pPr>
            <a:r>
              <a:rPr lang="en-IN" sz="2400" dirty="0"/>
              <a:t>Hospital management teams responsible for appointment capacity and staffing.</a:t>
            </a:r>
          </a:p>
          <a:p>
            <a:pPr>
              <a:lnSpc>
                <a:spcPct val="150000"/>
              </a:lnSpc>
            </a:pPr>
            <a:r>
              <a:rPr lang="en-IN" sz="2400" dirty="0"/>
              <a:t>Healthcare analysts studying patient demand and doctor-visit patterns.</a:t>
            </a:r>
          </a:p>
          <a:p>
            <a:pPr>
              <a:lnSpc>
                <a:spcPct val="150000"/>
              </a:lnSpc>
            </a:pPr>
            <a:r>
              <a:rPr lang="en-IN" sz="2400" dirty="0"/>
              <a:t>Care-coordination teams managing follow-up for patients with chronic-conditions.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00000" y="1432560"/>
            <a:ext cx="7900000" cy="5243448"/>
          </a:xfrm>
        </p:spPr>
        <p:txBody>
          <a:bodyPr>
            <a:normAutofit/>
          </a:bodyPr>
          <a:lstStyle/>
          <a:p>
            <a:pPr>
              <a:lnSpc>
                <a:spcPct val="150000"/>
              </a:lnSpc>
            </a:pPr>
            <a:r>
              <a:rPr lang="en-IN" sz="2400" dirty="0"/>
              <a:t>Python — Pandas and NumPy for data cleaning and analysis.</a:t>
            </a:r>
          </a:p>
          <a:p>
            <a:pPr>
              <a:lnSpc>
                <a:spcPct val="150000"/>
              </a:lnSpc>
            </a:pPr>
            <a:r>
              <a:rPr lang="en-IN" sz="2400" dirty="0"/>
              <a:t>Matplotlib and Seaborn for visualization.</a:t>
            </a:r>
          </a:p>
          <a:p>
            <a:pPr>
              <a:lnSpc>
                <a:spcPct val="150000"/>
              </a:lnSpc>
            </a:pPr>
            <a:r>
              <a:rPr lang="en-IN" sz="2400" dirty="0"/>
              <a:t>SciPy for statistical testing — Mann-Whitney U, Kruskal-Wallis, chi-square, Spearman correlation.</a:t>
            </a:r>
          </a:p>
          <a:p>
            <a:pPr>
              <a:lnSpc>
                <a:spcPct val="150000"/>
              </a:lnSpc>
            </a:pPr>
            <a:r>
              <a:rPr lang="en-IN" sz="2400" dirty="0"/>
              <a:t>Google Colab as the analysis environment.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0" name="Results Subtitle"/>
          <p:cNvSpPr txBox="1"/>
          <p:nvPr/>
        </p:nvSpPr>
        <p:spPr>
          <a:xfrm>
            <a:off x="675957" y="1230000"/>
            <a:ext cx="7000000" cy="300000"/>
          </a:xfrm>
          <a:prstGeom prst="rect">
            <a:avLst/>
          </a:prstGeom>
        </p:spPr>
        <p:txBody>
          <a:bodyPr wrap="square" lIns="0" tIns="0" rIns="0" bIns="0"/>
          <a:lstStyle/>
          <a:p>
            <a:r>
              <a:rPr lang="en-IN" sz="1800" b="1" dirty="0">
                <a:solidFill>
                  <a:schemeClr val="tx1"/>
                </a:solidFill>
              </a:rPr>
              <a:t>Illness Severity &amp; Visit Frequency</a:t>
            </a:r>
          </a:p>
        </p:txBody>
      </p:sp>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50" name="Result Chart 1"/>
          <p:cNvPicPr>
            <a:picLocks noChangeAspect="1"/>
          </p:cNvPicPr>
          <p:nvPr/>
        </p:nvPicPr>
        <p:blipFill>
          <a:blip r:embed="rId3"/>
          <a:srcRect r="49999"/>
          <a:stretch>
            <a:fillRect/>
          </a:stretch>
        </p:blipFill>
        <p:spPr>
          <a:xfrm>
            <a:off x="660000" y="1600000"/>
            <a:ext cx="5286000" cy="2600000"/>
          </a:xfrm>
          <a:prstGeom prst="rect">
            <a:avLst/>
          </a:prstGeom>
          <a:ln w="9525">
            <a:solidFill>
              <a:schemeClr val="tx1"/>
            </a:solidFill>
          </a:ln>
        </p:spPr>
      </p:pic>
      <p:pic>
        <p:nvPicPr>
          <p:cNvPr id="51" name="Result Chart 2"/>
          <p:cNvPicPr>
            <a:picLocks noChangeAspect="1"/>
          </p:cNvPicPr>
          <p:nvPr/>
        </p:nvPicPr>
        <p:blipFill>
          <a:blip r:embed="rId3"/>
          <a:srcRect l="49085"/>
          <a:stretch>
            <a:fillRect/>
          </a:stretch>
        </p:blipFill>
        <p:spPr>
          <a:xfrm>
            <a:off x="6246000" y="1600000"/>
            <a:ext cx="5286000" cy="2600000"/>
          </a:xfrm>
          <a:prstGeom prst="rect">
            <a:avLst/>
          </a:prstGeom>
          <a:ln w="9525">
            <a:solidFill>
              <a:schemeClr val="tx1"/>
            </a:solidFill>
          </a:ln>
        </p:spPr>
      </p:pic>
      <p:sp>
        <p:nvSpPr>
          <p:cNvPr id="60" name="Key Observations"/>
          <p:cNvSpPr txBox="1"/>
          <p:nvPr/>
        </p:nvSpPr>
        <p:spPr>
          <a:xfrm>
            <a:off x="659999" y="4350000"/>
            <a:ext cx="8614629" cy="2258000"/>
          </a:xfrm>
          <a:prstGeom prst="rect">
            <a:avLst/>
          </a:prstGeom>
          <a:noFill/>
        </p:spPr>
        <p:txBody>
          <a:bodyPr wrap="square">
            <a:normAutofit/>
          </a:bodyPr>
          <a:lstStyle/>
          <a:p>
            <a:r>
              <a:rPr lang="en-IN" sz="1400" b="1" u="sng" dirty="0">
                <a:latin typeface="Times New Roman" pitchFamily="18" charset="0"/>
                <a:cs typeface="Times New Roman" pitchFamily="18" charset="0"/>
              </a:rPr>
              <a:t>Key Observations:</a:t>
            </a:r>
          </a:p>
          <a:p>
            <a:endParaRPr lang="en-IN" sz="1400" b="1" u="sng" dirty="0">
              <a:latin typeface="Times New Roman" pitchFamily="18" charset="0"/>
            </a:endParaRPr>
          </a:p>
          <a:p>
            <a:pPr marL="285750" indent="-285750">
              <a:buFont typeface="Arial" pitchFamily="34" charset="0"/>
              <a:buChar char="•"/>
            </a:pPr>
            <a:r>
              <a:rPr lang="en-IN" sz="1400" b="1" u="sng" dirty="0">
                <a:latin typeface="Times New Roman" pitchFamily="18" charset="0"/>
                <a:cs typeface="Times New Roman" pitchFamily="18" charset="0"/>
              </a:rPr>
              <a:t>Illness score:</a:t>
            </a:r>
            <a:r>
              <a:rPr lang="en-IN" sz="1400" dirty="0">
                <a:latin typeface="Times New Roman" pitchFamily="18" charset="0"/>
                <a:cs typeface="Times New Roman" pitchFamily="18" charset="0"/>
              </a:rPr>
              <a:t> Mean visits rise from 0.08 at a score of 0 to 0.81 at a score of 5, about ten times higher.</a:t>
            </a:r>
          </a:p>
          <a:p>
            <a:pPr marL="285750" indent="-285750">
              <a:buFont typeface="Arial" pitchFamily="34" charset="0"/>
              <a:buChar char="•"/>
            </a:pPr>
            <a:r>
              <a:rPr lang="en-IN" sz="1400" b="1" u="sng" dirty="0">
                <a:latin typeface="Times New Roman" pitchFamily="18" charset="0"/>
                <a:cs typeface="Times New Roman" pitchFamily="18" charset="0"/>
              </a:rPr>
              <a:t>Any-visit rate:</a:t>
            </a:r>
            <a:r>
              <a:rPr lang="en-IN" sz="1400" dirty="0">
                <a:latin typeface="Times New Roman" pitchFamily="18" charset="0"/>
                <a:cs typeface="Times New Roman" pitchFamily="18" charset="0"/>
              </a:rPr>
              <a:t> the share of patients with at least one visit rises from 6.8% at a score of 0 to 41.9% across the same scores.</a:t>
            </a:r>
          </a:p>
          <a:p>
            <a:pPr marL="285750" indent="-285750">
              <a:buFont typeface="Wingdings" pitchFamily="2" charset="2"/>
              <a:buChar char="Ø"/>
            </a:pPr>
            <a:r>
              <a:rPr lang="en-IN" sz="1400" b="1" u="sng" dirty="0">
                <a:latin typeface="Times New Roman" pitchFamily="18" charset="0"/>
                <a:cs typeface="Times New Roman" pitchFamily="18" charset="0"/>
              </a:rPr>
              <a:t>Overall:</a:t>
            </a:r>
            <a:r>
              <a:rPr lang="en-IN" sz="1400" dirty="0">
                <a:latin typeface="Times New Roman" pitchFamily="18" charset="0"/>
                <a:cs typeface="Times New Roman" pitchFamily="18" charset="0"/>
              </a:rPr>
              <a:t> Illness score shows a strong association with doctor-visit demand in the dataset.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1" nodeType="clickEffect" nodePh="1">
                                  <p:stCondLst>
                                    <p:cond delay="0"/>
                                  </p:stCondLst>
                                  <p:childTnLst>
                                    <p:set>
                                      <p:cBhvr>
                                        <p:cTn id="13" dur="1" fill="hold">
                                          <p:stCondLst>
                                            <p:cond delay="0"/>
                                          </p:stCondLst>
                                        </p:cTn>
                                        <p:tgtEl>
                                          <p:spTgt spid="70">
                                            <p:txEl>
                                              <p:pRg st="0" end="0"/>
                                            </p:txEl>
                                          </p:spTgt>
                                        </p:tgtEl>
                                        <p:attrNameLst>
                                          <p:attrName>style.visibility</p:attrName>
                                        </p:attrNameLst>
                                      </p:cBhvr>
                                      <p:to>
                                        <p:strVal val="visible"/>
                                      </p:to>
                                    </p:set>
                                    <p:animEffect transition="in" filter="fade">
                                      <p:cBhvr>
                                        <p:cTn id="14" dur="1000"/>
                                        <p:tgtEl>
                                          <p:spTgt spid="70">
                                            <p:txEl>
                                              <p:pRg st="0" end="0"/>
                                            </p:txEl>
                                          </p:spTgt>
                                        </p:tgtEl>
                                      </p:cBhvr>
                                    </p:animEffect>
                                    <p:anim calcmode="lin" valueType="num">
                                      <p:cBhvr>
                                        <p:cTn id="15" dur="1000" fill="hold"/>
                                        <p:tgtEl>
                                          <p:spTgt spid="7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2" nodeType="clickEffect" nodePh="1">
                                  <p:stCondLst>
                                    <p:cond delay="0"/>
                                  </p:stCondLst>
                                  <p:childTnLst>
                                    <p:set>
                                      <p:cBhvr>
                                        <p:cTn id="20" dur="1" fill="hold">
                                          <p:stCondLst>
                                            <p:cond delay="0"/>
                                          </p:stCondLst>
                                        </p:cTn>
                                        <p:tgtEl>
                                          <p:spTgt spid="60">
                                            <p:txEl>
                                              <p:pRg st="0" end="0"/>
                                            </p:txEl>
                                          </p:spTgt>
                                        </p:tgtEl>
                                        <p:attrNameLst>
                                          <p:attrName>style.visibility</p:attrName>
                                        </p:attrNameLst>
                                      </p:cBhvr>
                                      <p:to>
                                        <p:strVal val="visible"/>
                                      </p:to>
                                    </p:set>
                                    <p:animEffect transition="in" filter="fade">
                                      <p:cBhvr>
                                        <p:cTn id="21" dur="1000"/>
                                        <p:tgtEl>
                                          <p:spTgt spid="60">
                                            <p:txEl>
                                              <p:pRg st="0" end="0"/>
                                            </p:txEl>
                                          </p:spTgt>
                                        </p:tgtEl>
                                      </p:cBhvr>
                                    </p:animEffect>
                                    <p:anim calcmode="lin" valueType="num">
                                      <p:cBhvr>
                                        <p:cTn id="22" dur="1000" fill="hold"/>
                                        <p:tgtEl>
                                          <p:spTgt spid="6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6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0" grpId="1" build="p"/>
      <p:bldP spid="60" grpId="2"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91981" y="921072"/>
            <a:ext cx="8500000" cy="528928"/>
          </a:xfrm>
        </p:spPr>
        <p:txBody>
          <a:bodyPr>
            <a:normAutofit fontScale="90000"/>
          </a:bodyPr>
          <a:lstStyle/>
          <a:p>
            <a:r>
              <a:rPr lang="en-GB" sz="3200" dirty="0"/>
              <a:t>Reduced Activity &amp; Health Score</a:t>
            </a:r>
          </a:p>
        </p:txBody>
      </p:sp>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50" name="Result Chart 1"/>
          <p:cNvPicPr>
            <a:picLocks noChangeAspect="1"/>
          </p:cNvPicPr>
          <p:nvPr/>
        </p:nvPicPr>
        <p:blipFill>
          <a:blip r:embed="rId3"/>
          <a:srcRect r="49999"/>
          <a:stretch>
            <a:fillRect/>
          </a:stretch>
        </p:blipFill>
        <p:spPr>
          <a:xfrm>
            <a:off x="660000" y="1600000"/>
            <a:ext cx="5286000" cy="2600000"/>
          </a:xfrm>
          <a:prstGeom prst="rect">
            <a:avLst/>
          </a:prstGeom>
          <a:ln w="9525">
            <a:solidFill>
              <a:schemeClr val="tx1"/>
            </a:solidFill>
          </a:ln>
        </p:spPr>
      </p:pic>
      <p:pic>
        <p:nvPicPr>
          <p:cNvPr id="51" name="Result Chart 2"/>
          <p:cNvPicPr>
            <a:picLocks noChangeAspect="1"/>
          </p:cNvPicPr>
          <p:nvPr/>
        </p:nvPicPr>
        <p:blipFill>
          <a:blip r:embed="rId3"/>
          <a:srcRect l="49085"/>
          <a:stretch>
            <a:fillRect/>
          </a:stretch>
        </p:blipFill>
        <p:spPr>
          <a:xfrm>
            <a:off x="6246000" y="1600000"/>
            <a:ext cx="5286000" cy="2600000"/>
          </a:xfrm>
          <a:prstGeom prst="rect">
            <a:avLst/>
          </a:prstGeom>
          <a:ln w="9525">
            <a:solidFill>
              <a:schemeClr val="tx1"/>
            </a:solidFill>
          </a:ln>
        </p:spPr>
      </p:pic>
      <p:sp>
        <p:nvSpPr>
          <p:cNvPr id="60" name="Key Observations"/>
          <p:cNvSpPr txBox="1"/>
          <p:nvPr/>
        </p:nvSpPr>
        <p:spPr>
          <a:xfrm>
            <a:off x="660000" y="4350000"/>
            <a:ext cx="8500000" cy="2258000"/>
          </a:xfrm>
          <a:prstGeom prst="rect">
            <a:avLst/>
          </a:prstGeom>
          <a:noFill/>
        </p:spPr>
        <p:txBody>
          <a:bodyPr wrap="square">
            <a:normAutofit/>
          </a:bodyPr>
          <a:lstStyle/>
          <a:p>
            <a:r>
              <a:rPr lang="en-IN" sz="1400" b="1" u="sng" dirty="0">
                <a:latin typeface="Times New Roman" pitchFamily="18" charset="0"/>
                <a:cs typeface="Times New Roman" pitchFamily="18" charset="0"/>
              </a:rPr>
              <a:t>Key Observations:</a:t>
            </a:r>
          </a:p>
          <a:p>
            <a:endParaRPr lang="en-IN" sz="1400" b="1" u="sng" dirty="0">
              <a:latin typeface="Times New Roman" pitchFamily="18" charset="0"/>
            </a:endParaRPr>
          </a:p>
          <a:p>
            <a:pPr marL="285750" indent="-285750">
              <a:buFont typeface="Arial" pitchFamily="34" charset="0"/>
              <a:buChar char="•"/>
            </a:pPr>
            <a:r>
              <a:rPr lang="en-IN" sz="1400" b="1" u="sng" dirty="0">
                <a:latin typeface="Times New Roman" pitchFamily="18" charset="0"/>
                <a:cs typeface="Times New Roman" pitchFamily="18" charset="0"/>
              </a:rPr>
              <a:t>Reduced activity:</a:t>
            </a:r>
            <a:r>
              <a:rPr lang="en-IN" sz="1400" dirty="0">
                <a:latin typeface="Times New Roman" pitchFamily="18" charset="0"/>
                <a:cs typeface="Times New Roman" pitchFamily="18" charset="0"/>
              </a:rPr>
              <a:t> Mean visits rise from 0.18 at 0 days to 1.64 at 8-14 days, about nine times higher.</a:t>
            </a:r>
          </a:p>
          <a:p>
            <a:pPr marL="285750" indent="-285750">
              <a:buFont typeface="Arial" pitchFamily="34" charset="0"/>
              <a:buChar char="•"/>
            </a:pPr>
            <a:r>
              <a:rPr lang="en-IN" sz="1400" b="1" u="sng" dirty="0">
                <a:latin typeface="Times New Roman" pitchFamily="18" charset="0"/>
                <a:cs typeface="Times New Roman" pitchFamily="18" charset="0"/>
              </a:rPr>
              <a:t>Health score:</a:t>
            </a:r>
            <a:r>
              <a:rPr lang="en-IN" sz="1400" dirty="0">
                <a:latin typeface="Times New Roman" pitchFamily="18" charset="0"/>
                <a:cs typeface="Times New Roman" pitchFamily="18" charset="0"/>
              </a:rPr>
              <a:t> Mean visits rise from 0.20 at a score of 0 to 0.65 at a score of 4-12, a smaller but similar climb.</a:t>
            </a:r>
          </a:p>
          <a:p>
            <a:pPr marL="285750" indent="-285750">
              <a:buFont typeface="Wingdings" pitchFamily="2" charset="2"/>
              <a:buChar char="Ø"/>
            </a:pPr>
            <a:r>
              <a:rPr lang="en-IN" sz="1400" b="1" u="sng" dirty="0">
                <a:latin typeface="Times New Roman" pitchFamily="18" charset="0"/>
                <a:cs typeface="Times New Roman" pitchFamily="18" charset="0"/>
              </a:rPr>
              <a:t>Overall:</a:t>
            </a:r>
            <a:r>
              <a:rPr lang="en-IN" sz="1400" dirty="0">
                <a:latin typeface="Times New Roman" pitchFamily="18" charset="0"/>
                <a:cs typeface="Times New Roman" pitchFamily="18" charset="0"/>
              </a:rPr>
              <a:t> Days of reduced activity has the strongest observed correlation with doctor visits among the variables </a:t>
            </a:r>
            <a:r>
              <a:rPr lang="en-IN" sz="1400" dirty="0" err="1">
                <a:latin typeface="Times New Roman" pitchFamily="18" charset="0"/>
                <a:cs typeface="Times New Roman" pitchFamily="18" charset="0"/>
              </a:rPr>
              <a:t>analyzed</a:t>
            </a:r>
            <a:r>
              <a:rPr lang="en-IN" sz="1400" dirty="0">
                <a:latin typeface="Times New Roman" pitchFamily="18" charset="0"/>
                <a:cs typeface="Times New Roman" pitchFamily="18" charset="0"/>
              </a:rPr>
              <a:t>. (Spearman rho (</a:t>
            </a:r>
            <a:r>
              <a:rPr lang="el-GR" sz="1400" dirty="0"/>
              <a:t>ρ</a:t>
            </a:r>
            <a:r>
              <a:rPr lang="en-US" sz="1400" dirty="0"/>
              <a:t>)</a:t>
            </a:r>
            <a:r>
              <a:rPr lang="en-IN" sz="1400" dirty="0">
                <a:latin typeface="Times New Roman" pitchFamily="18" charset="0"/>
                <a:cs typeface="Times New Roman" pitchFamily="18" charset="0"/>
              </a:rPr>
              <a:t> 0.34).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1" nodeType="clickEffect" nodePh="1">
                                  <p:stCondLst>
                                    <p:cond delay="0"/>
                                  </p:stCondLst>
                                  <p:childTnLst>
                                    <p:set>
                                      <p:cBhvr>
                                        <p:cTn id="13" dur="1" fill="hold">
                                          <p:stCondLst>
                                            <p:cond delay="0"/>
                                          </p:stCondLst>
                                        </p:cTn>
                                        <p:tgtEl>
                                          <p:spTgt spid="60">
                                            <p:txEl>
                                              <p:pRg st="0" end="0"/>
                                            </p:txEl>
                                          </p:spTgt>
                                        </p:tgtEl>
                                        <p:attrNameLst>
                                          <p:attrName>style.visibility</p:attrName>
                                        </p:attrNameLst>
                                      </p:cBhvr>
                                      <p:to>
                                        <p:strVal val="visible"/>
                                      </p:to>
                                    </p:set>
                                    <p:animEffect transition="in" filter="fade">
                                      <p:cBhvr>
                                        <p:cTn id="14" dur="1000"/>
                                        <p:tgtEl>
                                          <p:spTgt spid="60">
                                            <p:txEl>
                                              <p:pRg st="0" end="0"/>
                                            </p:txEl>
                                          </p:spTgt>
                                        </p:tgtEl>
                                      </p:cBhvr>
                                    </p:animEffect>
                                    <p:anim calcmode="lin" valueType="num">
                                      <p:cBhvr>
                                        <p:cTn id="15" dur="1000" fill="hold"/>
                                        <p:tgtEl>
                                          <p:spTgt spid="6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0" grpI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60000" y="887528"/>
            <a:ext cx="8500000" cy="562472"/>
          </a:xfrm>
        </p:spPr>
        <p:txBody>
          <a:bodyPr>
            <a:normAutofit/>
          </a:bodyPr>
          <a:lstStyle/>
          <a:p>
            <a:r>
              <a:rPr lang="en-GB" sz="2900" dirty="0"/>
              <a:t>Chronic Condition Impact on Visit Rates</a:t>
            </a:r>
          </a:p>
        </p:txBody>
      </p:sp>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50" name="Result Chart 1"/>
          <p:cNvPicPr>
            <a:picLocks noChangeAspect="1"/>
          </p:cNvPicPr>
          <p:nvPr/>
        </p:nvPicPr>
        <p:blipFill>
          <a:blip r:embed="rId3"/>
          <a:srcRect r="49999"/>
          <a:stretch>
            <a:fillRect/>
          </a:stretch>
        </p:blipFill>
        <p:spPr>
          <a:xfrm>
            <a:off x="660000" y="1600000"/>
            <a:ext cx="5286000" cy="2600000"/>
          </a:xfrm>
          <a:prstGeom prst="rect">
            <a:avLst/>
          </a:prstGeom>
          <a:ln w="9525">
            <a:solidFill>
              <a:schemeClr val="tx1"/>
            </a:solidFill>
          </a:ln>
        </p:spPr>
      </p:pic>
      <p:pic>
        <p:nvPicPr>
          <p:cNvPr id="51" name="Result Chart 2"/>
          <p:cNvPicPr>
            <a:picLocks noChangeAspect="1"/>
          </p:cNvPicPr>
          <p:nvPr/>
        </p:nvPicPr>
        <p:blipFill>
          <a:blip r:embed="rId3"/>
          <a:srcRect l="49085"/>
          <a:stretch>
            <a:fillRect/>
          </a:stretch>
        </p:blipFill>
        <p:spPr>
          <a:xfrm>
            <a:off x="6246000" y="1600000"/>
            <a:ext cx="5286000" cy="2600000"/>
          </a:xfrm>
          <a:prstGeom prst="rect">
            <a:avLst/>
          </a:prstGeom>
          <a:ln w="9525">
            <a:solidFill>
              <a:schemeClr val="tx1"/>
            </a:solidFill>
          </a:ln>
        </p:spPr>
      </p:pic>
      <p:sp>
        <p:nvSpPr>
          <p:cNvPr id="60" name="Key Observations"/>
          <p:cNvSpPr txBox="1"/>
          <p:nvPr/>
        </p:nvSpPr>
        <p:spPr>
          <a:xfrm>
            <a:off x="660000" y="4350000"/>
            <a:ext cx="8500000" cy="2258000"/>
          </a:xfrm>
          <a:prstGeom prst="rect">
            <a:avLst/>
          </a:prstGeom>
          <a:noFill/>
        </p:spPr>
        <p:txBody>
          <a:bodyPr wrap="square">
            <a:normAutofit/>
          </a:bodyPr>
          <a:lstStyle/>
          <a:p>
            <a:r>
              <a:rPr lang="en-IN" sz="1400" b="1" u="sng" dirty="0">
                <a:latin typeface="Times New Roman" pitchFamily="18" charset="0"/>
                <a:cs typeface="Times New Roman" pitchFamily="18" charset="0"/>
              </a:rPr>
              <a:t>Key Observations:</a:t>
            </a:r>
          </a:p>
          <a:p>
            <a:endParaRPr lang="en-IN" sz="1400" b="1" u="sng" dirty="0">
              <a:latin typeface="Times New Roman" pitchFamily="18" charset="0"/>
            </a:endParaRPr>
          </a:p>
          <a:p>
            <a:pPr marL="285750" indent="-285750">
              <a:buFont typeface="Arial" pitchFamily="34" charset="0"/>
              <a:buChar char="•"/>
            </a:pPr>
            <a:r>
              <a:rPr lang="en-IN" sz="1400" b="1" u="sng" dirty="0">
                <a:latin typeface="Times New Roman" pitchFamily="18" charset="0"/>
                <a:cs typeface="Times New Roman" pitchFamily="18" charset="0"/>
              </a:rPr>
              <a:t>Mean visits:</a:t>
            </a:r>
            <a:r>
              <a:rPr lang="en-IN" sz="1400" dirty="0">
                <a:latin typeface="Times New Roman" pitchFamily="18" charset="0"/>
                <a:cs typeface="Times New Roman" pitchFamily="18" charset="0"/>
              </a:rPr>
              <a:t> Patients with a limiting chronic condition average 0.60 visits, compared with 0.19 for those without a chronic condition.</a:t>
            </a:r>
          </a:p>
          <a:p>
            <a:pPr marL="285750" indent="-285750">
              <a:buFont typeface="Arial" pitchFamily="34" charset="0"/>
              <a:buChar char="•"/>
            </a:pPr>
            <a:r>
              <a:rPr lang="en-IN" sz="1400" b="1" u="sng" dirty="0">
                <a:latin typeface="Times New Roman" pitchFamily="18" charset="0"/>
                <a:cs typeface="Times New Roman" pitchFamily="18" charset="0"/>
              </a:rPr>
              <a:t>Any-visit rate:</a:t>
            </a:r>
            <a:r>
              <a:rPr lang="en-IN" sz="1400" dirty="0">
                <a:latin typeface="Times New Roman" pitchFamily="18" charset="0"/>
                <a:cs typeface="Times New Roman" pitchFamily="18" charset="0"/>
              </a:rPr>
              <a:t> 35.0% of the limiting-chronic group had at least one visit, compared with 13.7% without a chronic condition.</a:t>
            </a:r>
          </a:p>
          <a:p>
            <a:pPr marL="285750" indent="-285750">
              <a:buFont typeface="Wingdings" pitchFamily="2" charset="2"/>
              <a:buChar char="Ø"/>
            </a:pPr>
            <a:r>
              <a:rPr lang="en-IN" sz="1400" b="1" u="sng" dirty="0">
                <a:latin typeface="Times New Roman" pitchFamily="18" charset="0"/>
                <a:cs typeface="Times New Roman" pitchFamily="18" charset="0"/>
              </a:rPr>
              <a:t>Overall:</a:t>
            </a:r>
            <a:r>
              <a:rPr lang="en-IN" sz="1400" dirty="0">
                <a:latin typeface="Times New Roman" pitchFamily="18" charset="0"/>
                <a:cs typeface="Times New Roman" pitchFamily="18" charset="0"/>
              </a:rPr>
              <a:t> Greater activity limitation is associated with higher doctor-visit demand, with a statistically significant association confirmed by the chi-square test </a:t>
            </a:r>
            <a:r>
              <a:rPr lang="en-US" sz="1400" dirty="0"/>
              <a:t>(</a:t>
            </a:r>
            <a:r>
              <a:rPr lang="el-GR" sz="1400" dirty="0"/>
              <a:t>ρ</a:t>
            </a:r>
            <a:r>
              <a:rPr lang="en-US" sz="1400" dirty="0"/>
              <a:t> &lt; 0.001).</a:t>
            </a:r>
            <a:endParaRPr lang="en-IN" sz="14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1" nodeType="clickEffect" nodePh="1">
                                  <p:stCondLst>
                                    <p:cond delay="0"/>
                                  </p:stCondLst>
                                  <p:childTnLst>
                                    <p:set>
                                      <p:cBhvr>
                                        <p:cTn id="13" dur="1" fill="hold">
                                          <p:stCondLst>
                                            <p:cond delay="0"/>
                                          </p:stCondLst>
                                        </p:cTn>
                                        <p:tgtEl>
                                          <p:spTgt spid="60">
                                            <p:txEl>
                                              <p:pRg st="0" end="0"/>
                                            </p:txEl>
                                          </p:spTgt>
                                        </p:tgtEl>
                                        <p:attrNameLst>
                                          <p:attrName>style.visibility</p:attrName>
                                        </p:attrNameLst>
                                      </p:cBhvr>
                                      <p:to>
                                        <p:strVal val="visible"/>
                                      </p:to>
                                    </p:set>
                                    <p:animEffect transition="in" filter="fade">
                                      <p:cBhvr>
                                        <p:cTn id="14" dur="1000"/>
                                        <p:tgtEl>
                                          <p:spTgt spid="60">
                                            <p:txEl>
                                              <p:pRg st="0" end="0"/>
                                            </p:txEl>
                                          </p:spTgt>
                                        </p:tgtEl>
                                      </p:cBhvr>
                                    </p:animEffect>
                                    <p:anim calcmode="lin" valueType="num">
                                      <p:cBhvr>
                                        <p:cTn id="15" dur="1000" fill="hold"/>
                                        <p:tgtEl>
                                          <p:spTgt spid="6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0"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60000" y="868867"/>
            <a:ext cx="8500000" cy="581133"/>
          </a:xfrm>
        </p:spPr>
        <p:txBody>
          <a:bodyPr>
            <a:normAutofit/>
          </a:bodyPr>
          <a:lstStyle/>
          <a:p>
            <a:r>
              <a:rPr lang="en-GB" sz="2900" dirty="0"/>
              <a:t>Average Visits by Patient Group</a:t>
            </a:r>
          </a:p>
        </p:txBody>
      </p:sp>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50" name="Result Chart"/>
          <p:cNvPicPr>
            <a:picLocks noChangeAspect="1"/>
          </p:cNvPicPr>
          <p:nvPr/>
        </p:nvPicPr>
        <p:blipFill>
          <a:blip r:embed="rId3"/>
          <a:stretch>
            <a:fillRect/>
          </a:stretch>
        </p:blipFill>
        <p:spPr>
          <a:xfrm>
            <a:off x="2896000" y="1600000"/>
            <a:ext cx="6400000" cy="2600000"/>
          </a:xfrm>
          <a:prstGeom prst="rect">
            <a:avLst/>
          </a:prstGeom>
          <a:ln w="9525">
            <a:solidFill>
              <a:schemeClr val="tx1"/>
            </a:solidFill>
          </a:ln>
        </p:spPr>
      </p:pic>
      <p:sp>
        <p:nvSpPr>
          <p:cNvPr id="60" name="Key Observations"/>
          <p:cNvSpPr txBox="1"/>
          <p:nvPr/>
        </p:nvSpPr>
        <p:spPr>
          <a:xfrm>
            <a:off x="660000" y="4350000"/>
            <a:ext cx="8500000" cy="1830881"/>
          </a:xfrm>
          <a:prstGeom prst="rect">
            <a:avLst/>
          </a:prstGeom>
          <a:noFill/>
        </p:spPr>
        <p:txBody>
          <a:bodyPr wrap="square">
            <a:normAutofit/>
          </a:bodyPr>
          <a:lstStyle/>
          <a:p>
            <a:r>
              <a:rPr lang="en-IN" sz="1400" b="1" u="sng" dirty="0">
                <a:latin typeface="Times New Roman" pitchFamily="18" charset="0"/>
                <a:cs typeface="Times New Roman" pitchFamily="18" charset="0"/>
              </a:rPr>
              <a:t>Key Observations:</a:t>
            </a:r>
          </a:p>
          <a:p>
            <a:endParaRPr lang="en-IN" sz="1400" b="1" u="sng" dirty="0">
              <a:latin typeface="Times New Roman" pitchFamily="18" charset="0"/>
            </a:endParaRPr>
          </a:p>
          <a:p>
            <a:pPr marL="285750" indent="-285750">
              <a:buFont typeface="Arial" pitchFamily="34" charset="0"/>
              <a:buChar char="•"/>
            </a:pPr>
            <a:r>
              <a:rPr lang="en-IN" sz="1400" b="1" u="sng" dirty="0">
                <a:latin typeface="Times New Roman" pitchFamily="18" charset="0"/>
                <a:cs typeface="Times New Roman" pitchFamily="18" charset="0"/>
              </a:rPr>
              <a:t>Age:</a:t>
            </a:r>
            <a:r>
              <a:rPr lang="en-IN" sz="1400" dirty="0">
                <a:latin typeface="Times New Roman" pitchFamily="18" charset="0"/>
                <a:cs typeface="Times New Roman" pitchFamily="18" charset="0"/>
              </a:rPr>
              <a:t> The older group averages 0.43 visits, compared with 0.22 for the younger group.</a:t>
            </a:r>
          </a:p>
          <a:p>
            <a:pPr marL="285750" indent="-285750">
              <a:buFont typeface="Arial" pitchFamily="34" charset="0"/>
              <a:buChar char="•"/>
            </a:pPr>
            <a:r>
              <a:rPr lang="en-IN" sz="1400" b="1" u="sng" dirty="0">
                <a:latin typeface="Times New Roman" pitchFamily="18" charset="0"/>
                <a:cs typeface="Times New Roman" pitchFamily="18" charset="0"/>
              </a:rPr>
              <a:t>Gender:</a:t>
            </a:r>
            <a:r>
              <a:rPr lang="en-IN" sz="1400" dirty="0">
                <a:latin typeface="Times New Roman" pitchFamily="18" charset="0"/>
                <a:cs typeface="Times New Roman" pitchFamily="18" charset="0"/>
              </a:rPr>
              <a:t> Women average 0.36 visits, compared with 0.24 for men; women that and are older report higher illness level on average. </a:t>
            </a:r>
          </a:p>
          <a:p>
            <a:pPr marL="285750" indent="-285750">
              <a:buFont typeface="Arial" pitchFamily="34" charset="0"/>
              <a:buChar char="•"/>
            </a:pPr>
            <a:r>
              <a:rPr lang="en-IN" sz="1400" b="1" u="sng" dirty="0">
                <a:latin typeface="Times New Roman" pitchFamily="18" charset="0"/>
                <a:cs typeface="Times New Roman" pitchFamily="18" charset="0"/>
              </a:rPr>
              <a:t>Income:</a:t>
            </a:r>
            <a:r>
              <a:rPr lang="en-IN" sz="1400" dirty="0">
                <a:latin typeface="Times New Roman" pitchFamily="18" charset="0"/>
                <a:cs typeface="Times New Roman" pitchFamily="18" charset="0"/>
              </a:rPr>
              <a:t> Mean visits decline from 0.40 in the lowest-income group to 0.22 in the highest-income group.</a:t>
            </a:r>
          </a:p>
          <a:p>
            <a:pPr marL="285750" indent="-285750">
              <a:buFont typeface="Wingdings" pitchFamily="2" charset="2"/>
              <a:buChar char="Ø"/>
            </a:pPr>
            <a:r>
              <a:rPr lang="en-IN" sz="1400" b="1" u="sng" dirty="0">
                <a:latin typeface="Times New Roman" pitchFamily="18" charset="0"/>
                <a:cs typeface="Times New Roman" pitchFamily="18" charset="0"/>
              </a:rPr>
              <a:t>Overall:</a:t>
            </a:r>
            <a:r>
              <a:rPr lang="en-IN" sz="1400" dirty="0">
                <a:latin typeface="Times New Roman" pitchFamily="18" charset="0"/>
                <a:cs typeface="Times New Roman" pitchFamily="18" charset="0"/>
              </a:rPr>
              <a:t> Older and lower-income patients, along with women, record more visits on average. Differences in age and illnesses may partly explain these patterns.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1" nodeType="clickEffect" nodePh="1">
                                  <p:stCondLst>
                                    <p:cond delay="0"/>
                                  </p:stCondLst>
                                  <p:childTnLst>
                                    <p:set>
                                      <p:cBhvr>
                                        <p:cTn id="13" dur="1" fill="hold">
                                          <p:stCondLst>
                                            <p:cond delay="0"/>
                                          </p:stCondLst>
                                        </p:cTn>
                                        <p:tgtEl>
                                          <p:spTgt spid="60">
                                            <p:txEl>
                                              <p:pRg st="0" end="0"/>
                                            </p:txEl>
                                          </p:spTgt>
                                        </p:tgtEl>
                                        <p:attrNameLst>
                                          <p:attrName>style.visibility</p:attrName>
                                        </p:attrNameLst>
                                      </p:cBhvr>
                                      <p:to>
                                        <p:strVal val="visible"/>
                                      </p:to>
                                    </p:set>
                                    <p:animEffect transition="in" filter="fade">
                                      <p:cBhvr>
                                        <p:cTn id="14" dur="1000"/>
                                        <p:tgtEl>
                                          <p:spTgt spid="60">
                                            <p:txEl>
                                              <p:pRg st="0" end="0"/>
                                            </p:txEl>
                                          </p:spTgt>
                                        </p:tgtEl>
                                      </p:cBhvr>
                                    </p:animEffect>
                                    <p:anim calcmode="lin" valueType="num">
                                      <p:cBhvr>
                                        <p:cTn id="15" dur="1000" fill="hold"/>
                                        <p:tgtEl>
                                          <p:spTgt spid="6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0" grpI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60000" y="924850"/>
            <a:ext cx="8500000" cy="525150"/>
          </a:xfrm>
        </p:spPr>
        <p:txBody>
          <a:bodyPr>
            <a:normAutofit fontScale="90000"/>
          </a:bodyPr>
          <a:lstStyle/>
          <a:p>
            <a:r>
              <a:rPr lang="en-GB" sz="2900" dirty="0"/>
              <a:t>Insurance Coverage and Visit Patterns</a:t>
            </a:r>
          </a:p>
        </p:txBody>
      </p:sp>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50" name="Result Chart 1"/>
          <p:cNvPicPr>
            <a:picLocks noChangeAspect="1"/>
          </p:cNvPicPr>
          <p:nvPr/>
        </p:nvPicPr>
        <p:blipFill>
          <a:blip r:embed="rId3"/>
          <a:srcRect r="49999"/>
          <a:stretch>
            <a:fillRect/>
          </a:stretch>
        </p:blipFill>
        <p:spPr>
          <a:xfrm>
            <a:off x="660000" y="1600000"/>
            <a:ext cx="5286000" cy="2600000"/>
          </a:xfrm>
          <a:prstGeom prst="rect">
            <a:avLst/>
          </a:prstGeom>
          <a:ln w="9525">
            <a:solidFill>
              <a:schemeClr val="tx1"/>
            </a:solidFill>
          </a:ln>
        </p:spPr>
      </p:pic>
      <p:pic>
        <p:nvPicPr>
          <p:cNvPr id="51" name="Result Chart 2"/>
          <p:cNvPicPr>
            <a:picLocks noChangeAspect="1"/>
          </p:cNvPicPr>
          <p:nvPr/>
        </p:nvPicPr>
        <p:blipFill>
          <a:blip r:embed="rId3"/>
          <a:srcRect l="49085"/>
          <a:stretch>
            <a:fillRect/>
          </a:stretch>
        </p:blipFill>
        <p:spPr>
          <a:xfrm>
            <a:off x="6246000" y="1600000"/>
            <a:ext cx="5286000" cy="2600000"/>
          </a:xfrm>
          <a:prstGeom prst="rect">
            <a:avLst/>
          </a:prstGeom>
          <a:ln w="9525">
            <a:solidFill>
              <a:schemeClr val="tx1"/>
            </a:solidFill>
          </a:ln>
        </p:spPr>
      </p:pic>
      <p:sp>
        <p:nvSpPr>
          <p:cNvPr id="60" name="Key Observations"/>
          <p:cNvSpPr txBox="1"/>
          <p:nvPr/>
        </p:nvSpPr>
        <p:spPr>
          <a:xfrm>
            <a:off x="660000" y="4350000"/>
            <a:ext cx="8500000" cy="2258000"/>
          </a:xfrm>
          <a:prstGeom prst="rect">
            <a:avLst/>
          </a:prstGeom>
          <a:noFill/>
        </p:spPr>
        <p:txBody>
          <a:bodyPr wrap="square">
            <a:normAutofit/>
          </a:bodyPr>
          <a:lstStyle/>
          <a:p>
            <a:r>
              <a:rPr lang="en-IN" sz="1400" b="1" u="sng" dirty="0">
                <a:latin typeface="Times New Roman" pitchFamily="18" charset="0"/>
                <a:cs typeface="Times New Roman" pitchFamily="18" charset="0"/>
              </a:rPr>
              <a:t>Key Observations:</a:t>
            </a:r>
          </a:p>
          <a:p>
            <a:endParaRPr lang="en-IN" sz="1400" b="1" u="sng" dirty="0">
              <a:latin typeface="Times New Roman" pitchFamily="18" charset="0"/>
            </a:endParaRPr>
          </a:p>
          <a:p>
            <a:pPr marL="285750" indent="-285750">
              <a:buFont typeface="Arial" pitchFamily="34" charset="0"/>
              <a:buChar char="•"/>
            </a:pPr>
            <a:r>
              <a:rPr lang="en-IN" sz="1400" b="1" u="sng" dirty="0">
                <a:latin typeface="Times New Roman" pitchFamily="18" charset="0"/>
                <a:cs typeface="Times New Roman" pitchFamily="18" charset="0"/>
              </a:rPr>
              <a:t>Highest demand:</a:t>
            </a:r>
            <a:r>
              <a:rPr lang="en-IN" sz="1400" dirty="0">
                <a:latin typeface="Times New Roman" pitchFamily="18" charset="0"/>
                <a:cs typeface="Times New Roman" pitchFamily="18" charset="0"/>
              </a:rPr>
              <a:t> Patients with free coverage through repatriation average 0.47 visits, the highest among coverage groups.</a:t>
            </a:r>
          </a:p>
          <a:p>
            <a:pPr marL="285750" indent="-285750">
              <a:buFont typeface="Arial" pitchFamily="34" charset="0"/>
              <a:buChar char="•"/>
            </a:pPr>
            <a:r>
              <a:rPr lang="en-IN" sz="1400" b="1" u="sng" dirty="0">
                <a:latin typeface="Times New Roman" pitchFamily="18" charset="0"/>
                <a:cs typeface="Times New Roman" pitchFamily="18" charset="0"/>
              </a:rPr>
              <a:t>Lowest demand:</a:t>
            </a:r>
            <a:r>
              <a:rPr lang="en-IN" sz="1400" dirty="0">
                <a:latin typeface="Times New Roman" pitchFamily="18" charset="0"/>
                <a:cs typeface="Times New Roman" pitchFamily="18" charset="0"/>
              </a:rPr>
              <a:t> Patients with free coverage for low income average 0.16 visits, and have the youngest age profile and lowest illness levels.</a:t>
            </a:r>
          </a:p>
          <a:p>
            <a:pPr marL="285750" indent="-285750">
              <a:buFont typeface="Wingdings" pitchFamily="2" charset="2"/>
              <a:buChar char="Ø"/>
            </a:pPr>
            <a:r>
              <a:rPr lang="en-IN" sz="1400" b="1" u="sng" dirty="0">
                <a:latin typeface="Times New Roman" pitchFamily="18" charset="0"/>
                <a:cs typeface="Times New Roman" pitchFamily="18" charset="0"/>
              </a:rPr>
              <a:t>Overall:</a:t>
            </a:r>
            <a:r>
              <a:rPr lang="en-IN" sz="1400" dirty="0">
                <a:latin typeface="Times New Roman" pitchFamily="18" charset="0"/>
                <a:cs typeface="Times New Roman" pitchFamily="18" charset="0"/>
              </a:rPr>
              <a:t> Doctor-visit rates vary across coverage groups, but differences in age and illnesses profiles may explain much of the variation; we still cannot say, that the analysis establishes that coverage itself causes these differences.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1" nodeType="clickEffect" nodePh="1">
                                  <p:stCondLst>
                                    <p:cond delay="0"/>
                                  </p:stCondLst>
                                  <p:childTnLst>
                                    <p:set>
                                      <p:cBhvr>
                                        <p:cTn id="13" dur="1" fill="hold">
                                          <p:stCondLst>
                                            <p:cond delay="0"/>
                                          </p:stCondLst>
                                        </p:cTn>
                                        <p:tgtEl>
                                          <p:spTgt spid="60">
                                            <p:txEl>
                                              <p:pRg st="0" end="0"/>
                                            </p:txEl>
                                          </p:spTgt>
                                        </p:tgtEl>
                                        <p:attrNameLst>
                                          <p:attrName>style.visibility</p:attrName>
                                        </p:attrNameLst>
                                      </p:cBhvr>
                                      <p:to>
                                        <p:strVal val="visible"/>
                                      </p:to>
                                    </p:set>
                                    <p:animEffect transition="in" filter="fade">
                                      <p:cBhvr>
                                        <p:cTn id="14" dur="1000"/>
                                        <p:tgtEl>
                                          <p:spTgt spid="60">
                                            <p:txEl>
                                              <p:pRg st="0" end="0"/>
                                            </p:txEl>
                                          </p:spTgt>
                                        </p:tgtEl>
                                      </p:cBhvr>
                                    </p:animEffect>
                                    <p:anim calcmode="lin" valueType="num">
                                      <p:cBhvr>
                                        <p:cTn id="15" dur="1000" fill="hold"/>
                                        <p:tgtEl>
                                          <p:spTgt spid="6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0" grpI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4328417"/>
          </a:xfrm>
        </p:spPr>
        <p:txBody>
          <a:bodyPr>
            <a:normAutofit fontScale="77500" lnSpcReduction="20000"/>
          </a:bodyPr>
          <a:lstStyle/>
          <a:p>
            <a:pPr>
              <a:lnSpc>
                <a:spcPct val="130000"/>
              </a:lnSpc>
            </a:pPr>
            <a:r>
              <a:rPr lang="en-IN" sz="2000" b="1" u="sng" dirty="0">
                <a:solidFill>
                  <a:schemeClr val="tx1"/>
                </a:solidFill>
              </a:rPr>
              <a:t>Predictive </a:t>
            </a:r>
            <a:r>
              <a:rPr lang="en-IN" sz="2000" b="1" u="sng" dirty="0" err="1">
                <a:solidFill>
                  <a:schemeClr val="tx1"/>
                </a:solidFill>
              </a:rPr>
              <a:t>Modeling</a:t>
            </a:r>
            <a:r>
              <a:rPr lang="en-IN" sz="2000" b="1" u="sng" dirty="0">
                <a:solidFill>
                  <a:schemeClr val="tx1"/>
                </a:solidFill>
              </a:rPr>
              <a:t>:</a:t>
            </a:r>
            <a:r>
              <a:rPr lang="en-IN" sz="2000" dirty="0">
                <a:solidFill>
                  <a:schemeClr val="tx1"/>
                </a:solidFill>
              </a:rPr>
              <a:t> </a:t>
            </a:r>
            <a:r>
              <a:rPr lang="en-US" dirty="0"/>
              <a:t>Develop regression or classification models to estimate doctor-visit frequency using illness severity, chronic conditions and demographic factors.</a:t>
            </a:r>
            <a:endParaRPr lang="en-IN" sz="2000" dirty="0">
              <a:solidFill>
                <a:schemeClr val="tx1"/>
              </a:solidFill>
            </a:endParaRPr>
          </a:p>
          <a:p>
            <a:pPr>
              <a:lnSpc>
                <a:spcPct val="130000"/>
              </a:lnSpc>
            </a:pPr>
            <a:r>
              <a:rPr lang="en-IN" sz="2000" b="1" u="sng" dirty="0">
                <a:solidFill>
                  <a:schemeClr val="tx1"/>
                </a:solidFill>
              </a:rPr>
              <a:t>Wait-Time Analysis:</a:t>
            </a:r>
            <a:r>
              <a:rPr lang="en-IN" sz="2000" dirty="0">
                <a:solidFill>
                  <a:schemeClr val="tx1"/>
                </a:solidFill>
              </a:rPr>
              <a:t> </a:t>
            </a:r>
            <a:r>
              <a:rPr lang="en-US" dirty="0"/>
              <a:t>Integrate appointment and queue timestamps to investigate waiting times and identify opportunities to improve patient flow.</a:t>
            </a:r>
            <a:endParaRPr lang="en-IN" sz="2000" dirty="0">
              <a:solidFill>
                <a:schemeClr val="tx1"/>
              </a:solidFill>
            </a:endParaRPr>
          </a:p>
          <a:p>
            <a:pPr>
              <a:lnSpc>
                <a:spcPct val="130000"/>
              </a:lnSpc>
            </a:pPr>
            <a:r>
              <a:rPr lang="en-IN" sz="2000" b="1" u="sng" dirty="0">
                <a:solidFill>
                  <a:schemeClr val="tx1"/>
                </a:solidFill>
              </a:rPr>
              <a:t>High-Risk Patient Identification:</a:t>
            </a:r>
            <a:r>
              <a:rPr lang="en-IN" sz="2000" dirty="0">
                <a:solidFill>
                  <a:schemeClr val="tx1"/>
                </a:solidFill>
              </a:rPr>
              <a:t> </a:t>
            </a:r>
            <a:r>
              <a:rPr lang="en-US" dirty="0"/>
              <a:t>Develop a model to identify patients who may require frequent visits, supporting proactive follow-up and scheduling.</a:t>
            </a:r>
            <a:endParaRPr lang="en-IN" sz="2000" dirty="0">
              <a:solidFill>
                <a:schemeClr val="tx1"/>
              </a:solidFill>
            </a:endParaRPr>
          </a:p>
          <a:p>
            <a:pPr>
              <a:lnSpc>
                <a:spcPct val="130000"/>
              </a:lnSpc>
            </a:pPr>
            <a:r>
              <a:rPr lang="en-IN" sz="2000" b="1" u="sng" dirty="0">
                <a:solidFill>
                  <a:schemeClr val="tx1"/>
                </a:solidFill>
              </a:rPr>
              <a:t>Coverage &amp; Access Analysis:</a:t>
            </a:r>
            <a:r>
              <a:rPr lang="en-IN" sz="2000" dirty="0">
                <a:solidFill>
                  <a:schemeClr val="tx1"/>
                </a:solidFill>
              </a:rPr>
              <a:t> </a:t>
            </a:r>
            <a:r>
              <a:rPr lang="en-US" dirty="0"/>
              <a:t>Examine differences in doctor-visit patterns across coverage groups while accounting for age, illness severity and other relevant factors.</a:t>
            </a:r>
            <a:endParaRPr lang="en-IN" sz="2000" dirty="0">
              <a:solidFill>
                <a:schemeClr val="tx1"/>
              </a:solidFill>
            </a:endParaRPr>
          </a:p>
          <a:p>
            <a:pPr>
              <a:lnSpc>
                <a:spcPct val="130000"/>
              </a:lnSpc>
            </a:pPr>
            <a:r>
              <a:rPr lang="en-IN" sz="2000" b="1" u="sng" dirty="0">
                <a:solidFill>
                  <a:schemeClr val="tx1"/>
                </a:solidFill>
              </a:rPr>
              <a:t>Interactive Dashboard:</a:t>
            </a:r>
            <a:r>
              <a:rPr lang="en-IN" sz="2000" dirty="0">
                <a:solidFill>
                  <a:schemeClr val="tx1"/>
                </a:solidFill>
              </a:rPr>
              <a:t> </a:t>
            </a:r>
            <a:r>
              <a:rPr lang="en-US" dirty="0">
                <a:solidFill>
                  <a:schemeClr val="tx1"/>
                </a:solidFill>
              </a:rPr>
              <a:t>Build a Power BI or </a:t>
            </a:r>
            <a:r>
              <a:rPr lang="en-US" dirty="0" err="1">
                <a:solidFill>
                  <a:schemeClr val="tx1"/>
                </a:solidFill>
              </a:rPr>
              <a:t>Streamlit</a:t>
            </a:r>
            <a:r>
              <a:rPr lang="en-US" dirty="0">
                <a:solidFill>
                  <a:schemeClr val="tx1"/>
                </a:solidFill>
              </a:rPr>
              <a:t> dashboard to help hospital management explore patient-demand patterns and support data-informed planning.</a:t>
            </a:r>
            <a:endParaRPr lang="en-IN" sz="2000" dirty="0">
              <a:solidFill>
                <a:schemeClr val="tx1"/>
              </a:solidFill>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FUTURE SCOPE</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CC4C777-BEBD-EE61-53C8-30412B125EED}"/>
              </a:ext>
            </a:extLst>
          </p:cNvPr>
          <p:cNvSpPr/>
          <p:nvPr/>
        </p:nvSpPr>
        <p:spPr>
          <a:xfrm>
            <a:off x="6630572" y="1616532"/>
            <a:ext cx="395068" cy="40132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CONCLUSION</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5" name="Text Placeholder 1">
            <a:extLst>
              <a:ext uri="{FF2B5EF4-FFF2-40B4-BE49-F238E27FC236}">
                <a16:creationId xmlns:a16="http://schemas.microsoft.com/office/drawing/2014/main" id="{086D7FFB-A09C-896A-C8E4-B57486756496}"/>
              </a:ext>
            </a:extLst>
          </p:cNvPr>
          <p:cNvSpPr>
            <a:spLocks noGrp="1"/>
          </p:cNvSpPr>
          <p:nvPr>
            <p:ph type="body" sz="quarter" idx="12"/>
          </p:nvPr>
        </p:nvSpPr>
        <p:spPr>
          <a:xfrm>
            <a:off x="679857" y="1567954"/>
            <a:ext cx="9033886" cy="4726166"/>
          </a:xfrm>
        </p:spPr>
        <p:txBody>
          <a:bodyPr>
            <a:noAutofit/>
          </a:bodyPr>
          <a:lstStyle/>
          <a:p>
            <a:pPr marL="0" indent="0">
              <a:lnSpc>
                <a:spcPct val="150000"/>
              </a:lnSpc>
              <a:buNone/>
            </a:pPr>
            <a:r>
              <a:rPr lang="en-US" sz="1800" b="1" dirty="0"/>
              <a:t>This project analyzed 5,190 patient records using Python, Pandas, NumPy, Matplotlib and Seaborn to identify patterns in doctor-visit demand. Illness severity and chronic-condition status showed strong associations with visit frequency, while gender showed a smaller difference. Statistical testing supported significant differences across relevant patient groups. These findings can help hospital management plan staffing and appointment capacity, provide healthcare analysts with a reproducible approach to patient-demand analysis, and support care-coordination teams in identifying groups for targeted follow-up. However, the dataset lacks visit timestamps and queue information, so the analysis identifies demand patterns but cannot directly measure or reduce waiting times.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nSpc>
                <a:spcPct val="150000"/>
              </a:lnSpc>
            </a:pPr>
            <a:r>
              <a:rPr lang="en-IN" sz="2400" b="1" dirty="0"/>
              <a:t>GitHub Link</a:t>
            </a:r>
          </a:p>
          <a:p>
            <a:pPr>
              <a:lnSpc>
                <a:spcPct val="150000"/>
              </a:lnSpc>
              <a:buFont typeface="Wingdings" panose="05000000000000000000" pitchFamily="2" charset="2"/>
              <a:buChar char="Ø"/>
            </a:pPr>
            <a:r>
              <a:rPr lang="en-IN" sz="2000" u="sng" dirty="0">
                <a:hlinkClick r:id="rId2"/>
              </a:rPr>
              <a:t>Project Submission</a:t>
            </a:r>
            <a:endParaRPr lang="en-IN" sz="2000" u="sng" dirty="0"/>
          </a:p>
          <a:p>
            <a:pPr>
              <a:lnSpc>
                <a:spcPct val="150000"/>
              </a:lnSpc>
            </a:pPr>
            <a:r>
              <a:rPr lang="en-IN" sz="2400" b="1" dirty="0"/>
              <a:t>Google Colab Link</a:t>
            </a:r>
          </a:p>
          <a:p>
            <a:pPr>
              <a:lnSpc>
                <a:spcPct val="150000"/>
              </a:lnSpc>
              <a:buFont typeface="Wingdings" panose="05000000000000000000" pitchFamily="2" charset="2"/>
              <a:buChar char="Ø"/>
            </a:pPr>
            <a:r>
              <a:rPr lang="en-IN" sz="2000" u="sng" dirty="0">
                <a:hlinkClick r:id="rId3"/>
              </a:rPr>
              <a:t>Devpal_Singh_Charanjeet_Singh_Anand_HealthCare_Analytics_Doctor_Visits_TIRTC.ipynb</a:t>
            </a:r>
            <a:endParaRPr lang="en-IN" sz="2000" u="sng" dirty="0"/>
          </a:p>
          <a:p>
            <a:endParaRPr lang="en-IN" sz="20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a:t>SUBMISSION LINKS: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4"/>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3078943"/>
            <a:ext cx="11340000" cy="700114"/>
          </a:xfrm>
          <a:prstGeom prst="rect">
            <a:avLst/>
          </a:prstGeom>
        </p:spPr>
        <p:txBody>
          <a:bodyPr anchor="ctr">
            <a:normAutofit fontScale="90000"/>
          </a:bodyPr>
          <a:lstStyle/>
          <a:p>
            <a:pPr algn="ctr"/>
            <a:r>
              <a:rPr lang="en-US" sz="4800" b="1" dirty="0">
                <a:solidFill>
                  <a:schemeClr val="tx1"/>
                </a:solidFill>
              </a:rPr>
              <a:t>Thank you</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infopath/2007/PartnerControls"/>
    <ds:schemaRef ds:uri="http://schemas.microsoft.com/office/2006/metadata/properties"/>
    <ds:schemaRef ds:uri="http://purl.org/dc/elements/1.1/"/>
    <ds:schemaRef ds:uri="http://purl.org/dc/dcmitype/"/>
    <ds:schemaRef ds:uri="http://schemas.openxmlformats.org/package/2006/metadata/core-properties"/>
    <ds:schemaRef ds:uri="http://schemas.microsoft.com/office/2006/documentManagement/types"/>
    <ds:schemaRef ds:uri="71af3243-3dd4-4a8d-8c0d-dd76da1f02a5"/>
    <ds:schemaRef ds:uri="16c05727-aa75-4e4a-9b5f-8a80a1165891"/>
    <ds:schemaRef ds:uri="http://www.w3.org/XML/1998/namespace"/>
    <ds:schemaRef ds:uri="http://purl.org/dc/te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653</TotalTime>
  <Words>913</Words>
  <Application>Microsoft Office PowerPoint</Application>
  <PresentationFormat>Widescreen</PresentationFormat>
  <Paragraphs>64</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Healthcare Analytics for Doctor Visits_TIRTC</vt:lpstr>
      <vt:lpstr>PROBLEM  STATEMENT</vt:lpstr>
      <vt:lpstr>Healthcare Analytics for Doctor Visits explores 5,190 patient records to identify patterns in healthcare utilization. Using Python on Google Colab, the analysis covers data cleaning, outlier assessment, univariate, bivariate and multivariate analysis, and statistical testing with Mann–Whitney U, Kruskal–Wallis, chi-square and Spearman correlation. The project concludes with five key findings and data-driven recommendations to support hospital planning.</vt:lpstr>
      <vt:lpstr>WHO ARE THE END USERS?</vt:lpstr>
      <vt:lpstr>Technology Used</vt:lpstr>
      <vt:lpstr>RESULTS </vt:lpstr>
      <vt:lpstr>Reduced Activity &amp; Health Score</vt:lpstr>
      <vt:lpstr>Chronic Condition Impact on Visit Rates</vt:lpstr>
      <vt:lpstr>Average Visits by Patient Group</vt:lpstr>
      <vt:lpstr>Insurance Coverage and Visit Patterns</vt:lpstr>
      <vt:lpstr>FUTURE SCOPE</vt:lpstr>
      <vt:lpstr>CONCLUSION</vt:lpstr>
      <vt:lpstr>SUBMISSION LINKS: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Devpal Singh Anand - [AA.SC.P2MCA25017005]</cp:lastModifiedBy>
  <cp:revision>90</cp:revision>
  <dcterms:created xsi:type="dcterms:W3CDTF">2021-07-11T13:13:15Z</dcterms:created>
  <dcterms:modified xsi:type="dcterms:W3CDTF">2026-10-09T13:47:14Z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