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40" r:id="rId10"/>
    <p:sldId id="341" r:id="rId11"/>
    <p:sldId id="342" r:id="rId12"/>
    <p:sldId id="343" r:id="rId13"/>
    <p:sldId id="344" r:id="rId14"/>
    <p:sldId id="345" r:id="rId15"/>
    <p:sldId id="339" r:id="rId16"/>
    <p:sldId id="346" r:id="rId17"/>
    <p:sldId id="347"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15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85" autoAdjust="0"/>
    <p:restoredTop sz="95039" autoAdjust="0"/>
  </p:normalViewPr>
  <p:slideViewPr>
    <p:cSldViewPr snapToGrid="0">
      <p:cViewPr varScale="1">
        <p:scale>
          <a:sx n="78" d="100"/>
          <a:sy n="78" d="100"/>
        </p:scale>
        <p:origin x="782" y="72"/>
      </p:cViewPr>
      <p:guideLst>
        <p:guide orient="horz" pos="1968"/>
        <p:guide pos="408"/>
        <p:guide orient="horz" pos="3912"/>
        <p:guide pos="715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8/31/2026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8/31/2026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8/31/2026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8/31/2026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8/31/2026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8/31/2026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6" Type="http://schemas.microsoft.com/office/2007/relationships/hdphoto" Target="../media/hdphoto2.wdp"/><Relationship Id="rId5" Type="http://schemas.openxmlformats.org/officeDocument/2006/relationships/image" Target="../media/image7.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6" Type="http://schemas.microsoft.com/office/2007/relationships/hdphoto" Target="../media/hdphoto4.wdp"/><Relationship Id="rId5" Type="http://schemas.openxmlformats.org/officeDocument/2006/relationships/image" Target="../media/image9.png"/><Relationship Id="rId4" Type="http://schemas.microsoft.com/office/2007/relationships/hdphoto" Target="../media/hdphoto3.wdp"/></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microsoft.com/office/2007/relationships/hdphoto" Target="../media/hdphoto6.wdp"/><Relationship Id="rId5" Type="http://schemas.openxmlformats.org/officeDocument/2006/relationships/image" Target="../media/image11.png"/><Relationship Id="rId4" Type="http://schemas.microsoft.com/office/2007/relationships/hdphoto" Target="../media/hdphoto5.wdp"/></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6" Type="http://schemas.microsoft.com/office/2007/relationships/hdphoto" Target="../media/hdphoto8.wdp"/><Relationship Id="rId5" Type="http://schemas.openxmlformats.org/officeDocument/2006/relationships/image" Target="../media/image13.png"/><Relationship Id="rId4" Type="http://schemas.microsoft.com/office/2007/relationships/hdphoto" Target="../media/hdphoto7.wdp"/></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microsoft.com/office/2007/relationships/hdphoto" Target="../media/hdphoto9.wdp"/></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microsoft.com/office/2007/relationships/hdphoto" Target="../media/hdphoto10.wdp"/></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devpal-singh-anand/VOIS-Data-Analytics-Internship-2026/blob/main/Minor%20Project%20Submission/Devpal%27s_Car_Market_Trends_Analysis_CarDekho.pptx" TargetMode="External"/><Relationship Id="rId2" Type="http://schemas.openxmlformats.org/officeDocument/2006/relationships/image" Target="../media/image4.png"/><Relationship Id="rId1" Type="http://schemas.openxmlformats.org/officeDocument/2006/relationships/slideLayout" Target="../slideLayouts/slideLayout19.xml"/><Relationship Id="rId4" Type="http://schemas.openxmlformats.org/officeDocument/2006/relationships/hyperlink" Target="https://colab.research.google.com/drive/1_abFXWUm8TT5zqR7FuI0A28K_OvbGXBH#scrollTo=91c8fc16"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180114" y="4141999"/>
            <a:ext cx="5532847" cy="861497"/>
          </a:xfrm>
        </p:spPr>
        <p:txBody>
          <a:bodyPr>
            <a:noAutofit/>
          </a:bodyPr>
          <a:lstStyle/>
          <a:p>
            <a:pPr algn="r"/>
            <a:r>
              <a:rPr lang="en-US" sz="2400" u="sng" dirty="0">
                <a:solidFill>
                  <a:schemeClr val="tx1"/>
                </a:solidFill>
                <a:latin typeface="Times New Roman" panose="02020603050405020304" pitchFamily="18" charset="0"/>
                <a:cs typeface="Times New Roman" panose="02020603050405020304" pitchFamily="18" charset="0"/>
              </a:rPr>
              <a:t>Devpal Singh Charanjeet Singh Anand</a:t>
            </a:r>
            <a:endParaRPr lang="en-IN" sz="2400" u="sng" dirty="0">
              <a:solidFill>
                <a:schemeClr val="tx1"/>
              </a:solidFill>
              <a:latin typeface="Times New Roman" panose="02020603050405020304" pitchFamily="18" charset="0"/>
              <a:cs typeface="Times New Roman" panose="02020603050405020304" pitchFamily="18" charset="0"/>
            </a:endParaRPr>
          </a:p>
          <a:p>
            <a:pPr algn="r"/>
            <a:r>
              <a:rPr lang="en-US" sz="1600" u="sng" dirty="0">
                <a:solidFill>
                  <a:schemeClr val="tx1"/>
                </a:solidFill>
                <a:latin typeface="Times New Roman" panose="02020603050405020304" pitchFamily="18" charset="0"/>
                <a:cs typeface="Times New Roman" panose="02020603050405020304" pitchFamily="18" charset="0"/>
              </a:rPr>
              <a:t>AICTE STU ID</a:t>
            </a:r>
            <a:r>
              <a:rPr lang="en-US" sz="1600" b="0" dirty="0">
                <a:solidFill>
                  <a:schemeClr val="tx1"/>
                </a:solidFill>
                <a:latin typeface="Times New Roman" panose="02020603050405020304" pitchFamily="18" charset="0"/>
                <a:cs typeface="Times New Roman" panose="02020603050405020304" pitchFamily="18" charset="0"/>
              </a:rPr>
              <a:t>: STU658299becb6581703057854</a:t>
            </a:r>
            <a:endParaRPr lang="en-IN" sz="1800" b="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096000" y="1807303"/>
            <a:ext cx="4998720" cy="743448"/>
          </a:xfrm>
        </p:spPr>
        <p:txBody>
          <a:bodyPr>
            <a:normAutofit fontScale="90000"/>
          </a:bodyPr>
          <a:lstStyle/>
          <a:p>
            <a:r>
              <a:rPr lang="en-GB" sz="3200" dirty="0">
                <a:latin typeface="Times New Roman" panose="02020603050405020304" pitchFamily="18" charset="0"/>
                <a:cs typeface="Times New Roman" panose="02020603050405020304" pitchFamily="18" charset="0"/>
              </a:rPr>
              <a:t>Car Market Trends Analysis with CarDekho Data</a:t>
            </a:r>
            <a:endParaRPr lang="en-IN" sz="3200"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r">
              <a:buNone/>
            </a:pPr>
            <a:r>
              <a:rPr lang="en-US" sz="1600" b="0" dirty="0">
                <a:solidFill>
                  <a:schemeClr val="tx1"/>
                </a:solidFill>
                <a:latin typeface="Times New Roman" panose="02020603050405020304" pitchFamily="18" charset="0"/>
                <a:cs typeface="Times New Roman" panose="02020603050405020304" pitchFamily="18" charset="0"/>
              </a:rPr>
              <a:t>VOIS for Tech - Data Analytics Internship Minor Project</a:t>
            </a:r>
            <a:endParaRPr lang="en-GB"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lnSpcReduction="10000"/>
          </a:bodyPr>
          <a:lstStyle/>
          <a:p>
            <a:pPr>
              <a:lnSpc>
                <a:spcPct val="130000"/>
              </a:lnSpc>
            </a:pPr>
            <a:r>
              <a:rPr lang="en-US" sz="1800" dirty="0">
                <a:latin typeface="Times New Roman" panose="02020603050405020304" pitchFamily="18" charset="0"/>
                <a:cs typeface="Times New Roman" panose="02020603050405020304" pitchFamily="18" charset="0"/>
              </a:rPr>
              <a:t>The used-vehicle market involves many factors such as vehicle age, kilometers driven, fuel type, transmission, and ownership history, which can affect the resale price. However, without analyzing the available data, it is difficult to understand how these factors are related to selling price and which vehicle characteristics are most important.</a:t>
            </a:r>
          </a:p>
          <a:p>
            <a:pPr>
              <a:lnSpc>
                <a:spcPct val="130000"/>
              </a:lnSpc>
            </a:pPr>
            <a:r>
              <a:rPr lang="en-US" sz="1800" dirty="0">
                <a:latin typeface="Times New Roman" panose="02020603050405020304" pitchFamily="18" charset="0"/>
                <a:cs typeface="Times New Roman" panose="02020603050405020304" pitchFamily="18" charset="0"/>
              </a:rPr>
              <a:t>This project addresses this problem by analyzing the </a:t>
            </a:r>
            <a:r>
              <a:rPr lang="en-US" sz="1800" dirty="0" err="1">
                <a:latin typeface="Times New Roman" panose="02020603050405020304" pitchFamily="18" charset="0"/>
                <a:cs typeface="Times New Roman" panose="02020603050405020304" pitchFamily="18" charset="0"/>
              </a:rPr>
              <a:t>CarDekho</a:t>
            </a:r>
            <a:r>
              <a:rPr lang="en-US" sz="1800" dirty="0">
                <a:latin typeface="Times New Roman" panose="02020603050405020304" pitchFamily="18" charset="0"/>
                <a:cs typeface="Times New Roman" panose="02020603050405020304" pitchFamily="18" charset="0"/>
              </a:rPr>
              <a:t> used-vehicle dataset to identify pricing patterns, market trends, popular vehicle categories, and relationships between selling price and different vehicle characteristics.</a:t>
            </a:r>
            <a:endParaRPr lang="en-IN" sz="18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lang="en-GB" dirty="0"/>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8" name="Rectangle 7">
            <a:extLst>
              <a:ext uri="{FF2B5EF4-FFF2-40B4-BE49-F238E27FC236}">
                <a16:creationId xmlns:a16="http://schemas.microsoft.com/office/drawing/2014/main" id="{FD35BACB-8CFE-D8A1-A38D-C1B54439C46E}"/>
              </a:ext>
            </a:extLst>
          </p:cNvPr>
          <p:cNvSpPr/>
          <p:nvPr/>
        </p:nvSpPr>
        <p:spPr>
          <a:xfrm>
            <a:off x="6613071" y="1636210"/>
            <a:ext cx="516477" cy="486504"/>
          </a:xfrm>
          <a:prstGeom prst="rect">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2F2F2"/>
              </a:solidFill>
            </a:endParaRPr>
          </a:p>
        </p:txBody>
      </p:sp>
      <p:sp>
        <p:nvSpPr>
          <p:cNvPr id="7" name="Rectangle 3">
            <a:extLst>
              <a:ext uri="{FF2B5EF4-FFF2-40B4-BE49-F238E27FC236}">
                <a16:creationId xmlns:a16="http://schemas.microsoft.com/office/drawing/2014/main" id="{90C2C100-F0E0-20CB-C5BC-305026724CA8}"/>
              </a:ext>
            </a:extLst>
          </p:cNvPr>
          <p:cNvSpPr>
            <a:spLocks noChangeArrowheads="1"/>
          </p:cNvSpPr>
          <p:nvPr/>
        </p:nvSpPr>
        <p:spPr bwMode="auto">
          <a:xfrm>
            <a:off x="660399" y="1700030"/>
            <a:ext cx="1032279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official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CarDekho</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used-vehicle dataset containing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301 listings and 9 attributes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covering car name, manufacturing year, selling price, present/ex-showroom price, kilometers driven, fuel type, seller type, transmission, and ownership.</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Tools</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 with Pandas and NumPy for data handling, and Matplotlib/Seaborn for visualization, using Google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Colab</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Jupyter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Notebook.</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Cleaning</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Removed 2 duplicate listings, checked data types and invalid values such as negative price/kilometers and invalid years, and created 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Car_Age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feature.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Exploratory Analysis</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Calculated summary statistics and frequency distributions for numerical and categorical variables such as year, price, kilometers driven, fuel type, transmission, seller type, and ownership.</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Created distribution plots, scatter plots, and grouped bar charts to explore selling price against year, mileage, fuel type, transmission, and ownership.</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Insight Extraction</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a correlation heatmap and grouped averages to understand the main factors related to selling price.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BD4EA7B-B55B-750C-C675-C3AB51C81032}"/>
              </a:ext>
            </a:extLst>
          </p:cNvPr>
          <p:cNvSpPr/>
          <p:nvPr/>
        </p:nvSpPr>
        <p:spPr>
          <a:xfrm>
            <a:off x="6613071" y="1636210"/>
            <a:ext cx="516477" cy="486504"/>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2F2F2"/>
              </a:solidFill>
            </a:endParaRPr>
          </a:p>
        </p:txBody>
      </p:sp>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697442"/>
            <a:ext cx="7904481" cy="3990023"/>
          </a:xfrm>
        </p:spPr>
        <p:txBody>
          <a:bodyPr>
            <a:normAutofit/>
          </a:bodyPr>
          <a:lstStyle/>
          <a:p>
            <a:pPr marL="228600" indent="-228600">
              <a:buFont typeface="Arial"/>
              <a:buChar char="•"/>
            </a:pPr>
            <a:r>
              <a:rPr lang="en-US" sz="1800" b="1" u="sng" dirty="0">
                <a:latin typeface="Times New Roman" panose="02020603050405020304" pitchFamily="18" charset="0"/>
                <a:cs typeface="Times New Roman" panose="02020603050405020304" pitchFamily="18" charset="0"/>
              </a:rPr>
              <a:t>Car Buyers</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Assess whether an asking price is fair based on a vehicle's age, mileage, fuel type, and ownership history.</a:t>
            </a:r>
          </a:p>
          <a:p>
            <a:pPr marL="228600" indent="-228600">
              <a:buFont typeface="Arial"/>
              <a:buChar char="•"/>
            </a:pPr>
            <a:r>
              <a:rPr lang="en-US" sz="1800" b="1" u="sng" dirty="0">
                <a:latin typeface="Times New Roman" panose="02020603050405020304" pitchFamily="18" charset="0"/>
                <a:cs typeface="Times New Roman" panose="02020603050405020304" pitchFamily="18" charset="0"/>
              </a:rPr>
              <a:t>Used-Car Sellers</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Understand which factors such as transmission, ownership, and mileage may lead to a higher or lower asking price.</a:t>
            </a:r>
          </a:p>
          <a:p>
            <a:pPr marL="228600" indent="-228600">
              <a:spcBef>
                <a:spcPts val="1400"/>
              </a:spcBef>
              <a:buFont typeface="Arial"/>
              <a:buChar char="•"/>
            </a:pPr>
            <a:r>
              <a:rPr lang="en-US" sz="1800" b="1" u="sng" dirty="0">
                <a:latin typeface="Times New Roman" panose="02020603050405020304" pitchFamily="18" charset="0"/>
                <a:cs typeface="Times New Roman" panose="02020603050405020304" pitchFamily="18" charset="0"/>
              </a:rPr>
              <a:t>Automobile Dealers</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Use model popularity and pricing trends to make better inventory and pricing decisions.</a:t>
            </a:r>
          </a:p>
          <a:p>
            <a:pPr marL="228600" indent="-228600">
              <a:spcBef>
                <a:spcPts val="1400"/>
              </a:spcBef>
              <a:buFont typeface="Arial"/>
              <a:buChar char="•"/>
            </a:pPr>
            <a:r>
              <a:rPr lang="en-US" sz="1800" b="1" u="sng" dirty="0">
                <a:latin typeface="Times New Roman" panose="02020603050405020304" pitchFamily="18" charset="0"/>
                <a:cs typeface="Times New Roman" panose="02020603050405020304" pitchFamily="18" charset="0"/>
              </a:rPr>
              <a:t>Market Analysts</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Analyze pricing patterns and correlations to understand the factors related to value in the used-vehicle market.</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5" name="Text Placeholder 1">
            <a:extLst>
              <a:ext uri="{FF2B5EF4-FFF2-40B4-BE49-F238E27FC236}">
                <a16:creationId xmlns:a16="http://schemas.microsoft.com/office/drawing/2014/main" id="{A11D292F-C9E2-24B4-E538-B0571F854A7B}"/>
              </a:ext>
            </a:extLst>
          </p:cNvPr>
          <p:cNvSpPr txBox="1">
            <a:spLocks/>
          </p:cNvSpPr>
          <p:nvPr/>
        </p:nvSpPr>
        <p:spPr>
          <a:xfrm>
            <a:off x="1498599" y="1433988"/>
            <a:ext cx="7904481" cy="3990023"/>
          </a:xfrm>
          <a:prstGeom prst="rect">
            <a:avLst/>
          </a:prstGeom>
        </p:spPr>
        <p:txBody>
          <a:bodyPr vert="horz" lIns="91440" tIns="45720" rIns="91440" bIns="45720" rtlCol="0">
            <a:normAutofit/>
          </a:bodyPr>
          <a:lstStyle>
            <a:lvl1pPr marL="342900" indent="-342900" algn="l" defTabSz="457200" rtl="0" eaLnBrk="1" latinLnBrk="0" hangingPunct="1">
              <a:lnSpc>
                <a:spcPct val="150000"/>
              </a:lnSpc>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228600" indent="-228600">
              <a:buFont typeface="Arial"/>
              <a:buChar char="•"/>
            </a:pPr>
            <a:r>
              <a:rPr lang="en-US" sz="1800" b="1" u="sng" dirty="0">
                <a:latin typeface="Times New Roman" panose="02020603050405020304" pitchFamily="18" charset="0"/>
                <a:cs typeface="Times New Roman" panose="02020603050405020304" pitchFamily="18" charset="0"/>
              </a:rPr>
              <a:t>Python</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Core programming language used for the analysis.</a:t>
            </a:r>
          </a:p>
          <a:p>
            <a:pPr marL="228600" indent="-228600">
              <a:buFont typeface="Arial"/>
              <a:buChar char="•"/>
            </a:pPr>
            <a:r>
              <a:rPr lang="en-US" sz="1800" b="1" u="sng" dirty="0">
                <a:latin typeface="Times New Roman" panose="02020603050405020304" pitchFamily="18" charset="0"/>
                <a:cs typeface="Times New Roman" panose="02020603050405020304" pitchFamily="18" charset="0"/>
              </a:rPr>
              <a:t>Pandas</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Used for data loading, cleaning, transformation, and grouping.</a:t>
            </a:r>
          </a:p>
          <a:p>
            <a:pPr marL="228600" indent="-228600">
              <a:buFont typeface="Arial"/>
              <a:buChar char="•"/>
            </a:pPr>
            <a:r>
              <a:rPr lang="en-US" sz="1800" b="1" u="sng" dirty="0">
                <a:latin typeface="Times New Roman" panose="02020603050405020304" pitchFamily="18" charset="0"/>
                <a:cs typeface="Times New Roman" panose="02020603050405020304" pitchFamily="18" charset="0"/>
              </a:rPr>
              <a:t>NumPy</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Used for numerical operations and calculations.</a:t>
            </a:r>
          </a:p>
          <a:p>
            <a:pPr marL="228600" indent="-228600">
              <a:buFont typeface="Arial"/>
              <a:buChar char="•"/>
            </a:pPr>
            <a:r>
              <a:rPr lang="en-US" sz="1800" b="1" u="sng" dirty="0">
                <a:latin typeface="Times New Roman" panose="02020603050405020304" pitchFamily="18" charset="0"/>
                <a:cs typeface="Times New Roman" panose="02020603050405020304" pitchFamily="18" charset="0"/>
              </a:rPr>
              <a:t>Matplotlib</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Base plotting library used for charts (histograms, scatter plots, bar charts).</a:t>
            </a:r>
          </a:p>
          <a:p>
            <a:pPr marL="228600" indent="-228600">
              <a:buFont typeface="Arial"/>
              <a:buChar char="•"/>
            </a:pPr>
            <a:r>
              <a:rPr lang="en-US" sz="1800" b="1" u="sng" dirty="0">
                <a:latin typeface="Times New Roman" panose="02020603050405020304" pitchFamily="18" charset="0"/>
                <a:cs typeface="Times New Roman" panose="02020603050405020304" pitchFamily="18" charset="0"/>
              </a:rPr>
              <a:t>Seaborn</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Used for statistical visualizations including the correlation heatmap.</a:t>
            </a:r>
          </a:p>
          <a:p>
            <a:pPr marL="228600" indent="-228600">
              <a:buFont typeface="Arial"/>
              <a:buChar char="•"/>
            </a:pPr>
            <a:r>
              <a:rPr lang="en-US" sz="1800" b="1" u="sng" dirty="0">
                <a:latin typeface="Times New Roman" panose="02020603050405020304" pitchFamily="18" charset="0"/>
                <a:cs typeface="Times New Roman" panose="02020603050405020304" pitchFamily="18" charset="0"/>
              </a:rPr>
              <a:t>Google </a:t>
            </a:r>
            <a:r>
              <a:rPr lang="en-US" sz="1800" b="1" u="sng" dirty="0" err="1">
                <a:latin typeface="Times New Roman" panose="02020603050405020304" pitchFamily="18" charset="0"/>
                <a:cs typeface="Times New Roman" panose="02020603050405020304" pitchFamily="18" charset="0"/>
              </a:rPr>
              <a:t>Colab</a:t>
            </a:r>
            <a:r>
              <a:rPr lang="en-US" sz="1800" b="1" u="sng" dirty="0">
                <a:latin typeface="Times New Roman" panose="02020603050405020304" pitchFamily="18" charset="0"/>
                <a:cs typeface="Times New Roman" panose="02020603050405020304" pitchFamily="18" charset="0"/>
              </a:rPr>
              <a:t> / </a:t>
            </a:r>
            <a:r>
              <a:rPr lang="en-US" sz="1800" b="1" u="sng" dirty="0" err="1">
                <a:latin typeface="Times New Roman" panose="02020603050405020304" pitchFamily="18" charset="0"/>
                <a:cs typeface="Times New Roman" panose="02020603050405020304" pitchFamily="18" charset="0"/>
              </a:rPr>
              <a:t>Jupyter</a:t>
            </a:r>
            <a:r>
              <a:rPr lang="en-US" sz="1800" b="1" u="sng" dirty="0">
                <a:latin typeface="Times New Roman" panose="02020603050405020304" pitchFamily="18" charset="0"/>
                <a:cs typeface="Times New Roman" panose="02020603050405020304" pitchFamily="18" charset="0"/>
              </a:rPr>
              <a:t> Notebook</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Cloud-based notebook environment used to run the full analysis.</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1000"/>
                                        <p:tgtEl>
                                          <p:spTgt spid="5">
                                            <p:txEl>
                                              <p:pRg st="1" end="1"/>
                                            </p:txEl>
                                          </p:spTgt>
                                        </p:tgtEl>
                                      </p:cBhvr>
                                    </p:animEffect>
                                    <p:anim calcmode="lin" valueType="num">
                                      <p:cBhvr>
                                        <p:cTn id="22"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Effect transition="in" filter="fade">
                                      <p:cBhvr>
                                        <p:cTn id="28" dur="1000"/>
                                        <p:tgtEl>
                                          <p:spTgt spid="5">
                                            <p:txEl>
                                              <p:pRg st="2" end="2"/>
                                            </p:txEl>
                                          </p:spTgt>
                                        </p:tgtEl>
                                      </p:cBhvr>
                                    </p:animEffect>
                                    <p:anim calcmode="lin" valueType="num">
                                      <p:cBhvr>
                                        <p:cTn id="29"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nodePh="1">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animEffect transition="in" filter="fade">
                                      <p:cBhvr>
                                        <p:cTn id="35" dur="1000"/>
                                        <p:tgtEl>
                                          <p:spTgt spid="5">
                                            <p:txEl>
                                              <p:pRg st="3" end="3"/>
                                            </p:txEl>
                                          </p:spTgt>
                                        </p:tgtEl>
                                      </p:cBhvr>
                                    </p:animEffect>
                                    <p:anim calcmode="lin" valueType="num">
                                      <p:cBhvr>
                                        <p:cTn id="36"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nodePh="1">
                                  <p:stCondLst>
                                    <p:cond delay="0"/>
                                  </p:stCondLst>
                                  <p:childTnLst>
                                    <p:set>
                                      <p:cBhvr>
                                        <p:cTn id="41" dur="1" fill="hold">
                                          <p:stCondLst>
                                            <p:cond delay="0"/>
                                          </p:stCondLst>
                                        </p:cTn>
                                        <p:tgtEl>
                                          <p:spTgt spid="5">
                                            <p:txEl>
                                              <p:pRg st="4" end="4"/>
                                            </p:txEl>
                                          </p:spTgt>
                                        </p:tgtEl>
                                        <p:attrNameLst>
                                          <p:attrName>style.visibility</p:attrName>
                                        </p:attrNameLst>
                                      </p:cBhvr>
                                      <p:to>
                                        <p:strVal val="visible"/>
                                      </p:to>
                                    </p:set>
                                    <p:animEffect transition="in" filter="fade">
                                      <p:cBhvr>
                                        <p:cTn id="42" dur="1000"/>
                                        <p:tgtEl>
                                          <p:spTgt spid="5">
                                            <p:txEl>
                                              <p:pRg st="4" end="4"/>
                                            </p:txEl>
                                          </p:spTgt>
                                        </p:tgtEl>
                                      </p:cBhvr>
                                    </p:animEffect>
                                    <p:anim calcmode="lin" valueType="num">
                                      <p:cBhvr>
                                        <p:cTn id="4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nodePh="1">
                                  <p:stCondLst>
                                    <p:cond delay="0"/>
                                  </p:stCondLst>
                                  <p:childTnLst>
                                    <p:set>
                                      <p:cBhvr>
                                        <p:cTn id="48" dur="1" fill="hold">
                                          <p:stCondLst>
                                            <p:cond delay="0"/>
                                          </p:stCondLst>
                                        </p:cTn>
                                        <p:tgtEl>
                                          <p:spTgt spid="5">
                                            <p:txEl>
                                              <p:pRg st="5" end="5"/>
                                            </p:txEl>
                                          </p:spTgt>
                                        </p:tgtEl>
                                        <p:attrNameLst>
                                          <p:attrName>style.visibility</p:attrName>
                                        </p:attrNameLst>
                                      </p:cBhvr>
                                      <p:to>
                                        <p:strVal val="visible"/>
                                      </p:to>
                                    </p:set>
                                    <p:animEffect transition="in" filter="fade">
                                      <p:cBhvr>
                                        <p:cTn id="49" dur="1000"/>
                                        <p:tgtEl>
                                          <p:spTgt spid="5">
                                            <p:txEl>
                                              <p:pRg st="5" end="5"/>
                                            </p:txEl>
                                          </p:spTgt>
                                        </p:tgtEl>
                                      </p:cBhvr>
                                    </p:animEffect>
                                    <p:anim calcmode="lin" valueType="num">
                                      <p:cBhvr>
                                        <p:cTn id="50"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0175BFC-B85E-9127-599F-30D1AC575616}"/>
              </a:ext>
            </a:extLst>
          </p:cNvPr>
          <p:cNvSpPr/>
          <p:nvPr/>
        </p:nvSpPr>
        <p:spPr>
          <a:xfrm>
            <a:off x="6449787" y="1581285"/>
            <a:ext cx="718457"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679258"/>
            <a:ext cx="8912498" cy="3990023"/>
          </a:xfrm>
        </p:spPr>
        <p:txBody>
          <a:bodyPr>
            <a:normAutofit/>
          </a:bodyPr>
          <a:lstStyle/>
          <a:p>
            <a:pPr marL="228600" indent="-228600">
              <a:buFont typeface="Arial"/>
              <a:buChar char="•"/>
            </a:pPr>
            <a:r>
              <a:rPr lang="en-US" sz="1800" b="1" u="sng" dirty="0">
                <a:latin typeface="Times New Roman" panose="02020603050405020304" pitchFamily="18" charset="0"/>
                <a:cs typeface="Times New Roman" panose="02020603050405020304" pitchFamily="18" charset="0"/>
              </a:rPr>
              <a:t>Dataset Size</a:t>
            </a:r>
            <a:r>
              <a:rPr lang="en-US" sz="1800" b="1" dirty="0">
                <a:latin typeface="Times New Roman" panose="02020603050405020304" pitchFamily="18" charset="0"/>
                <a:cs typeface="Times New Roman" panose="02020603050405020304" pitchFamily="18" charset="0"/>
              </a:rPr>
              <a:t>: </a:t>
            </a:r>
            <a:r>
              <a:rPr lang="en-US" sz="1800" b="0" dirty="0">
                <a:latin typeface="Times New Roman" panose="02020603050405020304" pitchFamily="18" charset="0"/>
                <a:cs typeface="Times New Roman" panose="02020603050405020304" pitchFamily="18" charset="0"/>
              </a:rPr>
              <a:t>301 vehicle listings, 9 original columns (Car_Name, Year, Selling_Price, Present_Price, Kms_Driven, Fuel_Type, Seller_Type, Transmission, Owner).</a:t>
            </a:r>
          </a:p>
          <a:p>
            <a:pPr marL="228600" indent="-228600">
              <a:spcBef>
                <a:spcPts val="1000"/>
              </a:spcBef>
              <a:buFont typeface="Arial"/>
              <a:buChar char="•"/>
            </a:pPr>
            <a:r>
              <a:rPr lang="en-US" sz="1800" b="1" u="sng" dirty="0">
                <a:latin typeface="Times New Roman" panose="02020603050405020304" pitchFamily="18" charset="0"/>
                <a:cs typeface="Times New Roman" panose="02020603050405020304" pitchFamily="18" charset="0"/>
              </a:rPr>
              <a:t>Missing Values</a:t>
            </a:r>
            <a:r>
              <a:rPr lang="en-US" sz="1800" b="1" dirty="0">
                <a:latin typeface="Times New Roman" panose="02020603050405020304" pitchFamily="18" charset="0"/>
                <a:cs typeface="Times New Roman" panose="02020603050405020304" pitchFamily="18" charset="0"/>
              </a:rPr>
              <a:t>: </a:t>
            </a:r>
            <a:r>
              <a:rPr lang="en-US" sz="1800" b="0" dirty="0">
                <a:latin typeface="Times New Roman" panose="02020603050405020304" pitchFamily="18" charset="0"/>
                <a:cs typeface="Times New Roman" panose="02020603050405020304" pitchFamily="18" charset="0"/>
              </a:rPr>
              <a:t>None found across any column in the raw dataset.</a:t>
            </a:r>
          </a:p>
          <a:p>
            <a:pPr marL="228600" indent="-228600">
              <a:spcBef>
                <a:spcPts val="1000"/>
              </a:spcBef>
              <a:buFont typeface="Arial"/>
              <a:buChar char="•"/>
            </a:pPr>
            <a:r>
              <a:rPr lang="en-US" sz="1800" b="1" u="sng" dirty="0">
                <a:latin typeface="Times New Roman" panose="02020603050405020304" pitchFamily="18" charset="0"/>
                <a:cs typeface="Times New Roman" panose="02020603050405020304" pitchFamily="18" charset="0"/>
              </a:rPr>
              <a:t>Duplicate Records</a:t>
            </a:r>
            <a:r>
              <a:rPr lang="en-US" sz="1800" b="1" dirty="0">
                <a:latin typeface="Times New Roman" panose="02020603050405020304" pitchFamily="18" charset="0"/>
                <a:cs typeface="Times New Roman" panose="02020603050405020304" pitchFamily="18" charset="0"/>
              </a:rPr>
              <a:t>: </a:t>
            </a:r>
            <a:r>
              <a:rPr lang="en-US" sz="1800" b="0" dirty="0">
                <a:latin typeface="Times New Roman" panose="02020603050405020304" pitchFamily="18" charset="0"/>
                <a:cs typeface="Times New Roman" panose="02020603050405020304" pitchFamily="18" charset="0"/>
              </a:rPr>
              <a:t>2 exact duplicate rows identified and removed.</a:t>
            </a:r>
          </a:p>
          <a:p>
            <a:pPr marL="228600" indent="-228600">
              <a:spcBef>
                <a:spcPts val="1000"/>
              </a:spcBef>
              <a:buFont typeface="Arial"/>
              <a:buChar char="•"/>
            </a:pPr>
            <a:r>
              <a:rPr lang="en-US" sz="1800" b="1" u="sng" dirty="0">
                <a:latin typeface="Times New Roman" panose="02020603050405020304" pitchFamily="18" charset="0"/>
                <a:cs typeface="Times New Roman" panose="02020603050405020304" pitchFamily="18" charset="0"/>
              </a:rPr>
              <a:t>Cleaning Performed</a:t>
            </a:r>
            <a:r>
              <a:rPr lang="en-US" sz="1800" b="1" dirty="0">
                <a:latin typeface="Times New Roman" panose="02020603050405020304" pitchFamily="18" charset="0"/>
                <a:cs typeface="Times New Roman" panose="02020603050405020304" pitchFamily="18" charset="0"/>
              </a:rPr>
              <a:t>: </a:t>
            </a:r>
            <a:r>
              <a:rPr lang="en-US" sz="1800" b="0" dirty="0">
                <a:latin typeface="Times New Roman" panose="02020603050405020304" pitchFamily="18" charset="0"/>
                <a:cs typeface="Times New Roman" panose="02020603050405020304" pitchFamily="18" charset="0"/>
              </a:rPr>
              <a:t>Duplicates dropped, text columns stripped of whitespace, numeric columns verified, impossible values checked (negative price/kms, invalid years) — none found needing removal.</a:t>
            </a:r>
          </a:p>
          <a:p>
            <a:pPr marL="228600" indent="-228600">
              <a:spcBef>
                <a:spcPts val="1000"/>
              </a:spcBef>
              <a:buFont typeface="Arial"/>
              <a:buChar char="•"/>
            </a:pPr>
            <a:r>
              <a:rPr lang="en-US" sz="1800" b="1" u="sng" dirty="0">
                <a:latin typeface="Times New Roman" panose="02020603050405020304" pitchFamily="18" charset="0"/>
                <a:cs typeface="Times New Roman" panose="02020603050405020304" pitchFamily="18" charset="0"/>
              </a:rPr>
              <a:t>Feature Added</a:t>
            </a:r>
            <a:r>
              <a:rPr lang="en-US" sz="1800" b="1" dirty="0">
                <a:latin typeface="Times New Roman" panose="02020603050405020304" pitchFamily="18" charset="0"/>
                <a:cs typeface="Times New Roman" panose="02020603050405020304" pitchFamily="18" charset="0"/>
              </a:rPr>
              <a:t>: </a:t>
            </a:r>
            <a:r>
              <a:rPr lang="en-US" sz="1800" b="0" dirty="0">
                <a:latin typeface="Times New Roman" panose="02020603050405020304" pitchFamily="18" charset="0"/>
                <a:cs typeface="Times New Roman" panose="02020603050405020304" pitchFamily="18" charset="0"/>
              </a:rPr>
              <a:t>Car_Age derived from Year for age-based analysis.</a:t>
            </a:r>
          </a:p>
          <a:p>
            <a:pPr marL="228600" indent="-228600">
              <a:spcBef>
                <a:spcPts val="1000"/>
              </a:spcBef>
              <a:buFont typeface="Arial"/>
              <a:buChar char="•"/>
            </a:pPr>
            <a:r>
              <a:rPr lang="en-US" sz="1800" b="1" u="sng" dirty="0">
                <a:latin typeface="Times New Roman" panose="02020603050405020304" pitchFamily="18" charset="0"/>
                <a:cs typeface="Times New Roman" panose="02020603050405020304" pitchFamily="18" charset="0"/>
              </a:rPr>
              <a:t>Final Cleaned Dataset</a:t>
            </a:r>
            <a:r>
              <a:rPr lang="en-US" sz="1800" b="1" dirty="0">
                <a:latin typeface="Times New Roman" panose="02020603050405020304" pitchFamily="18" charset="0"/>
                <a:cs typeface="Times New Roman" panose="02020603050405020304" pitchFamily="18" charset="0"/>
              </a:rPr>
              <a:t>: </a:t>
            </a:r>
            <a:r>
              <a:rPr lang="en-US" sz="1800" b="0" dirty="0">
                <a:latin typeface="Times New Roman" panose="02020603050405020304" pitchFamily="18" charset="0"/>
                <a:cs typeface="Times New Roman" panose="02020603050405020304" pitchFamily="18" charset="0"/>
              </a:rPr>
              <a:t>299 rows x 10 columns (df_clean), 0 missing values, 0 duplicates.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Dataset Overview &amp; Data Cleaning</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p:cNvSpPr>
            <a:spLocks noGrp="1"/>
          </p:cNvSpPr>
          <p:nvPr>
            <p:ph type="title"/>
          </p:nvPr>
        </p:nvSpPr>
        <p:spPr>
          <a:xfrm>
            <a:off x="675957" y="280000"/>
            <a:ext cx="10840086" cy="780000"/>
          </a:xfrm>
        </p:spPr>
        <p:txBody>
          <a:bodyPr>
            <a:normAutofit/>
          </a:bodyPr>
          <a:lstStyle/>
          <a:p>
            <a:r>
              <a:rPr lang="en-US" sz="2600" dirty="0"/>
              <a:t>Selling Price Distribution &amp; Manufacturing Year Trend</a:t>
            </a:r>
            <a:endParaRPr lang="en-IN" sz="2600" dirty="0"/>
          </a:p>
        </p:txBody>
      </p:sp>
      <p:grpSp>
        <p:nvGrpSpPr>
          <p:cNvPr id="2" name="Group 1">
            <a:extLst>
              <a:ext uri="{FF2B5EF4-FFF2-40B4-BE49-F238E27FC236}">
                <a16:creationId xmlns:a16="http://schemas.microsoft.com/office/drawing/2014/main" id="{306D66DB-D834-DA05-67E3-4EF1764535C6}"/>
              </a:ext>
            </a:extLst>
          </p:cNvPr>
          <p:cNvGrpSpPr/>
          <p:nvPr/>
        </p:nvGrpSpPr>
        <p:grpSpPr>
          <a:xfrm>
            <a:off x="704209" y="1230000"/>
            <a:ext cx="10311141" cy="2950000"/>
            <a:chOff x="704209" y="1230000"/>
            <a:chExt cx="10311141" cy="2950000"/>
          </a:xfrm>
        </p:grpSpPr>
        <p:pic>
          <p:nvPicPr>
            <p:cNvPr id="101" name="Chart 1"/>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Lst>
            </a:blip>
            <a:stretch>
              <a:fillRect/>
            </a:stretch>
          </p:blipFill>
          <p:spPr>
            <a:xfrm>
              <a:off x="719449" y="1230000"/>
              <a:ext cx="4442118" cy="2650000"/>
            </a:xfrm>
            <a:prstGeom prst="rect">
              <a:avLst/>
            </a:prstGeom>
            <a:ln>
              <a:solidFill>
                <a:schemeClr val="tx1"/>
              </a:solidFill>
            </a:ln>
          </p:spPr>
        </p:pic>
        <p:pic>
          <p:nvPicPr>
            <p:cNvPr id="102" name="Chart 2"/>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Effect>
                        <a14:brightnessContrast contrast="40000"/>
                      </a14:imgEffect>
                    </a14:imgLayer>
                  </a14:imgProps>
                </a:ext>
              </a:extLst>
            </a:blip>
            <a:stretch>
              <a:fillRect/>
            </a:stretch>
          </p:blipFill>
          <p:spPr>
            <a:xfrm>
              <a:off x="5659687" y="1230000"/>
              <a:ext cx="5340423" cy="2650000"/>
            </a:xfrm>
            <a:prstGeom prst="rect">
              <a:avLst/>
            </a:prstGeom>
            <a:ln>
              <a:solidFill>
                <a:schemeClr val="tx1"/>
              </a:solidFill>
            </a:ln>
          </p:spPr>
        </p:pic>
        <p:sp>
          <p:nvSpPr>
            <p:cNvPr id="103" name="Caption"/>
            <p:cNvSpPr txBox="1"/>
            <p:nvPr/>
          </p:nvSpPr>
          <p:spPr>
            <a:xfrm>
              <a:off x="704209" y="3920000"/>
              <a:ext cx="4442118" cy="260000"/>
            </a:xfrm>
            <a:prstGeom prst="rect">
              <a:avLst/>
            </a:prstGeom>
          </p:spPr>
          <p:txBody>
            <a:bodyPr wrap="square" lIns="0" tIns="0" anchor="t">
              <a:normAutofit/>
            </a:bodyPr>
            <a:lstStyle/>
            <a:p>
              <a:pPr algn="ctr"/>
              <a:r>
                <a:rPr lang="en-US" sz="1100" i="1" dirty="0">
                  <a:solidFill>
                    <a:schemeClr val="tx1">
                      <a:lumMod val="65000"/>
                      <a:lumOff val="35000"/>
                    </a:schemeClr>
                  </a:solidFill>
                </a:rPr>
                <a:t>Distribution of Selling Price</a:t>
              </a:r>
            </a:p>
          </p:txBody>
        </p:sp>
        <p:sp>
          <p:nvSpPr>
            <p:cNvPr id="104" name="Caption"/>
            <p:cNvSpPr txBox="1"/>
            <p:nvPr/>
          </p:nvSpPr>
          <p:spPr>
            <a:xfrm>
              <a:off x="5674927" y="3920000"/>
              <a:ext cx="5340423" cy="260000"/>
            </a:xfrm>
            <a:prstGeom prst="rect">
              <a:avLst/>
            </a:prstGeom>
          </p:spPr>
          <p:txBody>
            <a:bodyPr wrap="square" lIns="0" tIns="0" anchor="t">
              <a:normAutofit/>
            </a:bodyPr>
            <a:lstStyle/>
            <a:p>
              <a:pPr algn="ctr"/>
              <a:r>
                <a:rPr lang="en-US" sz="1100" i="1" dirty="0">
                  <a:solidFill>
                    <a:schemeClr val="tx1">
                      <a:lumMod val="65000"/>
                      <a:lumOff val="35000"/>
                    </a:schemeClr>
                  </a:solidFill>
                </a:rPr>
                <a:t>Vehicles by Manufacturing Year</a:t>
              </a:r>
            </a:p>
          </p:txBody>
        </p:sp>
      </p:grpSp>
      <p:sp>
        <p:nvSpPr>
          <p:cNvPr id="105" name="Observations"/>
          <p:cNvSpPr txBox="1"/>
          <p:nvPr/>
        </p:nvSpPr>
        <p:spPr>
          <a:xfrm>
            <a:off x="699910" y="4230000"/>
            <a:ext cx="9489123" cy="2128000"/>
          </a:xfrm>
          <a:prstGeom prst="rect">
            <a:avLst/>
          </a:prstGeom>
        </p:spPr>
        <p:txBody>
          <a:bodyPr wrap="square" lIns="0" tIns="0">
            <a:normAutofit/>
          </a:bodyPr>
          <a:lstStyle/>
          <a:p>
            <a:r>
              <a:rPr lang="en-US" sz="1400" b="1" u="sng" dirty="0">
                <a:latin typeface="Times New Roman" panose="02020603050405020304" pitchFamily="18" charset="0"/>
                <a:cs typeface="Times New Roman" panose="02020603050405020304" pitchFamily="18" charset="0"/>
              </a:rPr>
              <a:t>Key Observations</a:t>
            </a:r>
            <a:r>
              <a:rPr lang="en-US" sz="1400" b="1"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u="sng" dirty="0">
                <a:latin typeface="Times New Roman" panose="02020603050405020304" pitchFamily="18" charset="0"/>
                <a:cs typeface="Times New Roman" panose="02020603050405020304" pitchFamily="18" charset="0"/>
              </a:rPr>
              <a:t>Selling Price</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The selling price is right-skewed, with a mean of ₹4.59 Lakhs and a median of ₹3.51 Lakhs. Most vehicles are in the budget and mid-range, while a few high-priced vehicles increase the average. </a:t>
            </a:r>
          </a:p>
          <a:p>
            <a:pPr marL="285750" indent="-285750">
              <a:buFont typeface="Arial" panose="020B0604020202020204" pitchFamily="34" charset="0"/>
              <a:buChar char="•"/>
            </a:pPr>
            <a:r>
              <a:rPr lang="en-US" sz="1400" b="1" u="sng" dirty="0">
                <a:latin typeface="Times New Roman" panose="02020603050405020304" pitchFamily="18" charset="0"/>
                <a:cs typeface="Times New Roman" panose="02020603050405020304" pitchFamily="18" charset="0"/>
              </a:rPr>
              <a:t>Manufacturing Year</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2015 is the most common manufacturing year, with 60 out of 299 vehicles. This shows that the listings are more concentrated around newer vehicles. </a:t>
            </a:r>
          </a:p>
          <a:p>
            <a:pPr marL="285750" indent="-285750">
              <a:buFont typeface="Wingdings" panose="05000000000000000000" pitchFamily="2" charset="2"/>
              <a:buChar char="Ø"/>
            </a:pPr>
            <a:r>
              <a:rPr lang="en-US" sz="1400" b="1" u="sng" dirty="0">
                <a:latin typeface="Times New Roman" panose="02020603050405020304" pitchFamily="18" charset="0"/>
                <a:cs typeface="Times New Roman" panose="02020603050405020304" pitchFamily="18" charset="0"/>
              </a:rPr>
              <a:t>Overall</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Most listings are for newer, moderately priced used vehicles.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5"/>
                                        </p:tgtEl>
                                        <p:attrNameLst>
                                          <p:attrName>style.visibility</p:attrName>
                                        </p:attrNameLst>
                                      </p:cBhvr>
                                      <p:to>
                                        <p:strVal val="visible"/>
                                      </p:to>
                                    </p:set>
                                    <p:animEffect transition="in" filter="fade">
                                      <p:cBhvr>
                                        <p:cTn id="21" dur="1000"/>
                                        <p:tgtEl>
                                          <p:spTgt spid="105"/>
                                        </p:tgtEl>
                                      </p:cBhvr>
                                    </p:animEffect>
                                    <p:anim calcmode="lin" valueType="num">
                                      <p:cBhvr>
                                        <p:cTn id="22" dur="1000" fill="hold"/>
                                        <p:tgtEl>
                                          <p:spTgt spid="105"/>
                                        </p:tgtEl>
                                        <p:attrNameLst>
                                          <p:attrName>ppt_x</p:attrName>
                                        </p:attrNameLst>
                                      </p:cBhvr>
                                      <p:tavLst>
                                        <p:tav tm="0">
                                          <p:val>
                                            <p:strVal val="#ppt_x"/>
                                          </p:val>
                                        </p:tav>
                                        <p:tav tm="100000">
                                          <p:val>
                                            <p:strVal val="#ppt_x"/>
                                          </p:val>
                                        </p:tav>
                                      </p:tavLst>
                                    </p:anim>
                                    <p:anim calcmode="lin" valueType="num">
                                      <p:cBhvr>
                                        <p:cTn id="23" dur="1000" fill="hold"/>
                                        <p:tgtEl>
                                          <p:spTgt spid="10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10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E3D1FBB-46B6-255D-6C59-CB594C8D6C17}"/>
              </a:ext>
            </a:extLst>
          </p:cNvPr>
          <p:cNvSpPr/>
          <p:nvPr/>
        </p:nvSpPr>
        <p:spPr>
          <a:xfrm>
            <a:off x="9295408" y="5306786"/>
            <a:ext cx="518063" cy="5225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p:cNvSpPr>
            <a:spLocks noGrp="1"/>
          </p:cNvSpPr>
          <p:nvPr>
            <p:ph type="title"/>
          </p:nvPr>
        </p:nvSpPr>
        <p:spPr>
          <a:xfrm>
            <a:off x="675957" y="280000"/>
            <a:ext cx="10840086" cy="780000"/>
          </a:xfrm>
        </p:spPr>
        <p:txBody>
          <a:bodyPr>
            <a:normAutofit/>
          </a:bodyPr>
          <a:lstStyle/>
          <a:p>
            <a:r>
              <a:rPr lang="en-US" sz="2600" dirty="0"/>
              <a:t>Market Composition: Fuel Type &amp; Transmission</a:t>
            </a:r>
            <a:endParaRPr lang="en-IN" sz="2600" dirty="0"/>
          </a:p>
        </p:txBody>
      </p:sp>
      <p:grpSp>
        <p:nvGrpSpPr>
          <p:cNvPr id="2" name="Group 1">
            <a:extLst>
              <a:ext uri="{FF2B5EF4-FFF2-40B4-BE49-F238E27FC236}">
                <a16:creationId xmlns:a16="http://schemas.microsoft.com/office/drawing/2014/main" id="{0379ACE6-1745-6F9C-C304-DA928B12DBE6}"/>
              </a:ext>
            </a:extLst>
          </p:cNvPr>
          <p:cNvGrpSpPr/>
          <p:nvPr/>
        </p:nvGrpSpPr>
        <p:grpSpPr>
          <a:xfrm>
            <a:off x="1524991" y="1230000"/>
            <a:ext cx="7770417" cy="2950000"/>
            <a:chOff x="1646911" y="1230000"/>
            <a:chExt cx="7770417" cy="2950000"/>
          </a:xfrm>
        </p:grpSpPr>
        <p:pic>
          <p:nvPicPr>
            <p:cNvPr id="101" name="Chart 1"/>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Lst>
            </a:blip>
            <a:stretch>
              <a:fillRect/>
            </a:stretch>
          </p:blipFill>
          <p:spPr>
            <a:xfrm>
              <a:off x="1646911" y="1230000"/>
              <a:ext cx="3548305" cy="2650000"/>
            </a:xfrm>
            <a:prstGeom prst="rect">
              <a:avLst/>
            </a:prstGeom>
            <a:ln>
              <a:solidFill>
                <a:schemeClr val="tx1"/>
              </a:solidFill>
            </a:ln>
          </p:spPr>
        </p:pic>
        <p:pic>
          <p:nvPicPr>
            <p:cNvPr id="102" name="Chart 2"/>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Effect>
                        <a14:brightnessContrast contrast="40000"/>
                      </a14:imgEffect>
                    </a14:imgLayer>
                  </a14:imgProps>
                </a:ext>
              </a:extLst>
            </a:blip>
            <a:stretch>
              <a:fillRect/>
            </a:stretch>
          </p:blipFill>
          <p:spPr>
            <a:xfrm>
              <a:off x="6318176" y="1230000"/>
              <a:ext cx="3099152" cy="2650000"/>
            </a:xfrm>
            <a:prstGeom prst="rect">
              <a:avLst/>
            </a:prstGeom>
            <a:ln>
              <a:solidFill>
                <a:schemeClr val="tx1"/>
              </a:solidFill>
            </a:ln>
          </p:spPr>
        </p:pic>
        <p:sp>
          <p:nvSpPr>
            <p:cNvPr id="103" name="Caption"/>
            <p:cNvSpPr txBox="1"/>
            <p:nvPr/>
          </p:nvSpPr>
          <p:spPr>
            <a:xfrm>
              <a:off x="1646911" y="3920000"/>
              <a:ext cx="3548305" cy="260000"/>
            </a:xfrm>
            <a:prstGeom prst="rect">
              <a:avLst/>
            </a:prstGeom>
          </p:spPr>
          <p:txBody>
            <a:bodyPr wrap="square" lIns="0" tIns="0" anchor="t">
              <a:normAutofit/>
            </a:bodyPr>
            <a:lstStyle/>
            <a:p>
              <a:pPr algn="ctr"/>
              <a:r>
                <a:rPr lang="en-US" sz="1100" i="1" dirty="0">
                  <a:solidFill>
                    <a:schemeClr val="tx1">
                      <a:lumMod val="65000"/>
                      <a:lumOff val="35000"/>
                    </a:schemeClr>
                  </a:solidFill>
                </a:rPr>
                <a:t>Vehicles by Fuel Type</a:t>
              </a:r>
            </a:p>
          </p:txBody>
        </p:sp>
        <p:sp>
          <p:nvSpPr>
            <p:cNvPr id="104" name="Caption"/>
            <p:cNvSpPr txBox="1"/>
            <p:nvPr/>
          </p:nvSpPr>
          <p:spPr>
            <a:xfrm>
              <a:off x="6318176" y="3920000"/>
              <a:ext cx="3099152" cy="260000"/>
            </a:xfrm>
            <a:prstGeom prst="rect">
              <a:avLst/>
            </a:prstGeom>
          </p:spPr>
          <p:txBody>
            <a:bodyPr wrap="square" lIns="0" tIns="0" anchor="t">
              <a:normAutofit/>
            </a:bodyPr>
            <a:lstStyle/>
            <a:p>
              <a:pPr algn="ctr"/>
              <a:r>
                <a:rPr lang="en-US" sz="1100" i="1" dirty="0">
                  <a:solidFill>
                    <a:schemeClr val="tx1">
                      <a:lumMod val="65000"/>
                      <a:lumOff val="35000"/>
                    </a:schemeClr>
                  </a:solidFill>
                </a:rPr>
                <a:t>Vehicles by Transmission</a:t>
              </a:r>
            </a:p>
          </p:txBody>
        </p:sp>
      </p:grpSp>
      <p:sp>
        <p:nvSpPr>
          <p:cNvPr id="105" name="Observations"/>
          <p:cNvSpPr txBox="1"/>
          <p:nvPr/>
        </p:nvSpPr>
        <p:spPr>
          <a:xfrm>
            <a:off x="1371600" y="4412624"/>
            <a:ext cx="9104857" cy="1826671"/>
          </a:xfrm>
          <a:prstGeom prst="rect">
            <a:avLst/>
          </a:prstGeom>
        </p:spPr>
        <p:txBody>
          <a:bodyPr wrap="square" lIns="0" tIns="0">
            <a:normAutofit/>
          </a:bodyPr>
          <a:lstStyle/>
          <a:p>
            <a:r>
              <a:rPr lang="en-US" sz="1400" b="1" u="sng" dirty="0">
                <a:latin typeface="Times New Roman" panose="02020603050405020304" pitchFamily="18" charset="0"/>
                <a:cs typeface="Times New Roman" panose="02020603050405020304" pitchFamily="18" charset="0"/>
              </a:rPr>
              <a:t>Key Observations</a:t>
            </a:r>
            <a:r>
              <a:rPr lang="en-US" sz="1400" b="1" dirty="0">
                <a:latin typeface="Times New Roman" panose="02020603050405020304" pitchFamily="18" charset="0"/>
                <a:cs typeface="Times New Roman" panose="02020603050405020304" pitchFamily="18" charset="0"/>
              </a:rPr>
              <a:t>:</a:t>
            </a:r>
          </a:p>
          <a:p>
            <a:endParaRPr lang="en-US" sz="14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u="sng" dirty="0">
                <a:latin typeface="Times New Roman" panose="02020603050405020304" pitchFamily="18" charset="0"/>
                <a:cs typeface="Times New Roman" panose="02020603050405020304" pitchFamily="18" charset="0"/>
              </a:rPr>
              <a:t>Fuel Type</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Petrol is the dominant fuel type, making up 79.9% of the listings, followed by Diesel and CNG. </a:t>
            </a:r>
          </a:p>
          <a:p>
            <a:pPr marL="285750" indent="-285750">
              <a:buFont typeface="Arial" panose="020B0604020202020204" pitchFamily="34" charset="0"/>
              <a:buChar char="•"/>
            </a:pPr>
            <a:r>
              <a:rPr lang="en-US" sz="1400" b="1" u="sng" dirty="0">
                <a:latin typeface="Times New Roman" panose="02020603050405020304" pitchFamily="18" charset="0"/>
                <a:cs typeface="Times New Roman" panose="02020603050405020304" pitchFamily="18" charset="0"/>
              </a:rPr>
              <a:t>Transmission</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Manual vehicles make up 87.0% of the listings, while automatic vehicles are much less common. </a:t>
            </a:r>
          </a:p>
          <a:p>
            <a:pPr marL="285750" indent="-285750">
              <a:buFont typeface="Wingdings" panose="05000000000000000000" pitchFamily="2" charset="2"/>
              <a:buChar char="Ø"/>
            </a:pPr>
            <a:r>
              <a:rPr lang="en-US" sz="1400" b="1" u="sng" dirty="0">
                <a:latin typeface="Times New Roman" panose="02020603050405020304" pitchFamily="18" charset="0"/>
                <a:cs typeface="Times New Roman" panose="02020603050405020304" pitchFamily="18" charset="0"/>
              </a:rPr>
              <a:t>Overall</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The dataset is mainly made up of Petrol and Manual vehicles, showing that these are the most common combinations in the listings.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5"/>
                                        </p:tgtEl>
                                        <p:attrNameLst>
                                          <p:attrName>style.visibility</p:attrName>
                                        </p:attrNameLst>
                                      </p:cBhvr>
                                      <p:to>
                                        <p:strVal val="visible"/>
                                      </p:to>
                                    </p:set>
                                    <p:animEffect transition="in" filter="fade">
                                      <p:cBhvr>
                                        <p:cTn id="21" dur="1000"/>
                                        <p:tgtEl>
                                          <p:spTgt spid="105"/>
                                        </p:tgtEl>
                                      </p:cBhvr>
                                    </p:animEffect>
                                    <p:anim calcmode="lin" valueType="num">
                                      <p:cBhvr>
                                        <p:cTn id="22" dur="1000" fill="hold"/>
                                        <p:tgtEl>
                                          <p:spTgt spid="105"/>
                                        </p:tgtEl>
                                        <p:attrNameLst>
                                          <p:attrName>ppt_x</p:attrName>
                                        </p:attrNameLst>
                                      </p:cBhvr>
                                      <p:tavLst>
                                        <p:tav tm="0">
                                          <p:val>
                                            <p:strVal val="#ppt_x"/>
                                          </p:val>
                                        </p:tav>
                                        <p:tav tm="100000">
                                          <p:val>
                                            <p:strVal val="#ppt_x"/>
                                          </p:val>
                                        </p:tav>
                                      </p:tavLst>
                                    </p:anim>
                                    <p:anim calcmode="lin" valueType="num">
                                      <p:cBhvr>
                                        <p:cTn id="23" dur="1000" fill="hold"/>
                                        <p:tgtEl>
                                          <p:spTgt spid="10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10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8D74EE6-1841-4238-7F9E-90A9E95529EB}"/>
              </a:ext>
            </a:extLst>
          </p:cNvPr>
          <p:cNvSpPr/>
          <p:nvPr/>
        </p:nvSpPr>
        <p:spPr>
          <a:xfrm>
            <a:off x="9295408" y="5306786"/>
            <a:ext cx="518063" cy="5225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p:cNvSpPr>
            <a:spLocks noGrp="1"/>
          </p:cNvSpPr>
          <p:nvPr>
            <p:ph type="title"/>
          </p:nvPr>
        </p:nvSpPr>
        <p:spPr>
          <a:xfrm>
            <a:off x="675957" y="280000"/>
            <a:ext cx="10840086" cy="780000"/>
          </a:xfrm>
        </p:spPr>
        <p:txBody>
          <a:bodyPr>
            <a:normAutofit/>
          </a:bodyPr>
          <a:lstStyle/>
          <a:p>
            <a:r>
              <a:rPr lang="en-US" sz="2600" dirty="0"/>
              <a:t>Relationship Between Selling Price, Year &amp; Kilometers Driven</a:t>
            </a:r>
            <a:endParaRPr lang="en-IN" sz="2600" dirty="0"/>
          </a:p>
        </p:txBody>
      </p:sp>
      <p:grpSp>
        <p:nvGrpSpPr>
          <p:cNvPr id="2" name="Group 1">
            <a:extLst>
              <a:ext uri="{FF2B5EF4-FFF2-40B4-BE49-F238E27FC236}">
                <a16:creationId xmlns:a16="http://schemas.microsoft.com/office/drawing/2014/main" id="{5162F0F9-3DBA-E052-313F-3C84A1482201}"/>
              </a:ext>
            </a:extLst>
          </p:cNvPr>
          <p:cNvGrpSpPr/>
          <p:nvPr/>
        </p:nvGrpSpPr>
        <p:grpSpPr>
          <a:xfrm>
            <a:off x="854952" y="1230000"/>
            <a:ext cx="9479204" cy="2950000"/>
            <a:chOff x="854952" y="1230000"/>
            <a:chExt cx="9479204" cy="2950000"/>
          </a:xfrm>
        </p:grpSpPr>
        <p:pic>
          <p:nvPicPr>
            <p:cNvPr id="101" name="Chart 1"/>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Lst>
            </a:blip>
            <a:stretch>
              <a:fillRect/>
            </a:stretch>
          </p:blipFill>
          <p:spPr>
            <a:xfrm>
              <a:off x="854952" y="1230000"/>
              <a:ext cx="4442118" cy="2650000"/>
            </a:xfrm>
            <a:prstGeom prst="rect">
              <a:avLst/>
            </a:prstGeom>
            <a:ln>
              <a:solidFill>
                <a:schemeClr val="tx1"/>
              </a:solidFill>
            </a:ln>
          </p:spPr>
        </p:pic>
        <p:pic>
          <p:nvPicPr>
            <p:cNvPr id="102" name="Chart 2"/>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Effect>
                        <a14:brightnessContrast contrast="40000"/>
                      </a14:imgEffect>
                    </a14:imgLayer>
                  </a14:imgProps>
                </a:ext>
              </a:extLst>
            </a:blip>
            <a:stretch>
              <a:fillRect/>
            </a:stretch>
          </p:blipFill>
          <p:spPr>
            <a:xfrm>
              <a:off x="5892038" y="1230000"/>
              <a:ext cx="4442118" cy="2650000"/>
            </a:xfrm>
            <a:prstGeom prst="rect">
              <a:avLst/>
            </a:prstGeom>
            <a:ln>
              <a:solidFill>
                <a:schemeClr val="tx1"/>
              </a:solidFill>
            </a:ln>
          </p:spPr>
        </p:pic>
        <p:sp>
          <p:nvSpPr>
            <p:cNvPr id="103" name="Caption"/>
            <p:cNvSpPr txBox="1"/>
            <p:nvPr/>
          </p:nvSpPr>
          <p:spPr>
            <a:xfrm>
              <a:off x="854952" y="3920000"/>
              <a:ext cx="4442118" cy="260000"/>
            </a:xfrm>
            <a:prstGeom prst="rect">
              <a:avLst/>
            </a:prstGeom>
          </p:spPr>
          <p:txBody>
            <a:bodyPr wrap="square" lIns="0" tIns="0" anchor="t">
              <a:normAutofit/>
            </a:bodyPr>
            <a:lstStyle/>
            <a:p>
              <a:pPr algn="ctr"/>
              <a:r>
                <a:rPr lang="en-US" sz="1100" i="1" dirty="0">
                  <a:solidFill>
                    <a:schemeClr val="tx1">
                      <a:lumMod val="65000"/>
                      <a:lumOff val="35000"/>
                    </a:schemeClr>
                  </a:solidFill>
                </a:rPr>
                <a:t>Selling Price vs. Manufacturing Year</a:t>
              </a:r>
            </a:p>
          </p:txBody>
        </p:sp>
        <p:sp>
          <p:nvSpPr>
            <p:cNvPr id="104" name="Caption"/>
            <p:cNvSpPr txBox="1"/>
            <p:nvPr/>
          </p:nvSpPr>
          <p:spPr>
            <a:xfrm>
              <a:off x="5892038" y="3920000"/>
              <a:ext cx="4442118" cy="260000"/>
            </a:xfrm>
            <a:prstGeom prst="rect">
              <a:avLst/>
            </a:prstGeom>
          </p:spPr>
          <p:txBody>
            <a:bodyPr wrap="square" lIns="0" tIns="0" anchor="t">
              <a:normAutofit/>
            </a:bodyPr>
            <a:lstStyle/>
            <a:p>
              <a:pPr algn="ctr"/>
              <a:r>
                <a:rPr lang="en-US" sz="1100" i="1" dirty="0">
                  <a:solidFill>
                    <a:schemeClr val="tx1">
                      <a:lumMod val="65000"/>
                      <a:lumOff val="35000"/>
                    </a:schemeClr>
                  </a:solidFill>
                </a:rPr>
                <a:t>Selling Price vs. Kilometers Driven</a:t>
              </a:r>
            </a:p>
          </p:txBody>
        </p:sp>
      </p:grpSp>
      <p:sp>
        <p:nvSpPr>
          <p:cNvPr id="9" name="Rectangle 5">
            <a:extLst>
              <a:ext uri="{FF2B5EF4-FFF2-40B4-BE49-F238E27FC236}">
                <a16:creationId xmlns:a16="http://schemas.microsoft.com/office/drawing/2014/main" id="{3B881FAD-4A90-CB8D-4C5E-2646C92CD1E5}"/>
              </a:ext>
            </a:extLst>
          </p:cNvPr>
          <p:cNvSpPr>
            <a:spLocks noChangeArrowheads="1"/>
          </p:cNvSpPr>
          <p:nvPr/>
        </p:nvSpPr>
        <p:spPr bwMode="auto">
          <a:xfrm>
            <a:off x="463813" y="4225741"/>
            <a:ext cx="9666514"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Observations</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Selling Price vs. Manufacturing Year</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Selling price has a weak positive correlation with manufacturing year </a:t>
            </a:r>
            <a:r>
              <a:rPr kumimoji="0" lang="en-US" altLang="en-US" sz="1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 0.23)</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newer cars generally tend to have higher prices, but the relationship is not very strong.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Selling Price vs. Kilometers Driven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Selling price has almost no linear correlation with kilometers driven </a:t>
            </a:r>
            <a:r>
              <a:rPr kumimoji="0" lang="en-US" altLang="en-US" sz="1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 0.03)</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 mileage alone does not strongly explain the selling price.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Present_Price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has a stronger relationship with selling price than manufacturing year or kilometers driven individually.</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F46266E-4CD1-F456-24C6-AD953F90FD59}"/>
              </a:ext>
            </a:extLst>
          </p:cNvPr>
          <p:cNvSpPr/>
          <p:nvPr/>
        </p:nvSpPr>
        <p:spPr>
          <a:xfrm>
            <a:off x="9295408" y="5306786"/>
            <a:ext cx="518063" cy="5225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p:cNvSpPr>
            <a:spLocks noGrp="1"/>
          </p:cNvSpPr>
          <p:nvPr>
            <p:ph type="title"/>
          </p:nvPr>
        </p:nvSpPr>
        <p:spPr>
          <a:xfrm>
            <a:off x="675957" y="280000"/>
            <a:ext cx="10840086" cy="780000"/>
          </a:xfrm>
        </p:spPr>
        <p:txBody>
          <a:bodyPr>
            <a:normAutofit/>
          </a:bodyPr>
          <a:lstStyle/>
          <a:p>
            <a:r>
              <a:rPr lang="en-US" sz="2600" dirty="0"/>
              <a:t>Average Selling Price by Fuel Type &amp; Transmission</a:t>
            </a:r>
            <a:endParaRPr lang="en-IN" sz="2600" dirty="0"/>
          </a:p>
        </p:txBody>
      </p:sp>
      <p:grpSp>
        <p:nvGrpSpPr>
          <p:cNvPr id="2" name="Group 1">
            <a:extLst>
              <a:ext uri="{FF2B5EF4-FFF2-40B4-BE49-F238E27FC236}">
                <a16:creationId xmlns:a16="http://schemas.microsoft.com/office/drawing/2014/main" id="{2C455346-BCA5-B508-1CEF-086AF81A1A02}"/>
              </a:ext>
            </a:extLst>
          </p:cNvPr>
          <p:cNvGrpSpPr/>
          <p:nvPr/>
        </p:nvGrpSpPr>
        <p:grpSpPr>
          <a:xfrm>
            <a:off x="1212706" y="1230000"/>
            <a:ext cx="7888800" cy="2950000"/>
            <a:chOff x="1212706" y="1230000"/>
            <a:chExt cx="7888800" cy="2950000"/>
          </a:xfrm>
        </p:grpSpPr>
        <p:pic>
          <p:nvPicPr>
            <p:cNvPr id="101" name="Chart 1"/>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Lst>
            </a:blip>
            <a:stretch>
              <a:fillRect/>
            </a:stretch>
          </p:blipFill>
          <p:spPr>
            <a:xfrm>
              <a:off x="1212706" y="1230000"/>
              <a:ext cx="3548305" cy="2650000"/>
            </a:xfrm>
            <a:prstGeom prst="rect">
              <a:avLst/>
            </a:prstGeom>
            <a:ln>
              <a:solidFill>
                <a:schemeClr val="tx1"/>
              </a:solidFill>
            </a:ln>
          </p:spPr>
        </p:pic>
        <p:pic>
          <p:nvPicPr>
            <p:cNvPr id="102" name="Chart 2"/>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Effect>
                        <a14:brightnessContrast contrast="40000"/>
                      </a14:imgEffect>
                    </a14:imgLayer>
                  </a14:imgProps>
                </a:ext>
              </a:extLst>
            </a:blip>
            <a:stretch>
              <a:fillRect/>
            </a:stretch>
          </p:blipFill>
          <p:spPr>
            <a:xfrm>
              <a:off x="6006845" y="1230000"/>
              <a:ext cx="3094661" cy="2650000"/>
            </a:xfrm>
            <a:prstGeom prst="rect">
              <a:avLst/>
            </a:prstGeom>
            <a:ln>
              <a:solidFill>
                <a:schemeClr val="tx1"/>
              </a:solidFill>
            </a:ln>
          </p:spPr>
        </p:pic>
        <p:sp>
          <p:nvSpPr>
            <p:cNvPr id="103" name="Caption"/>
            <p:cNvSpPr txBox="1"/>
            <p:nvPr/>
          </p:nvSpPr>
          <p:spPr>
            <a:xfrm>
              <a:off x="1212706" y="3920000"/>
              <a:ext cx="3548305" cy="260000"/>
            </a:xfrm>
            <a:prstGeom prst="rect">
              <a:avLst/>
            </a:prstGeom>
          </p:spPr>
          <p:txBody>
            <a:bodyPr wrap="square" lIns="0" tIns="0" anchor="t">
              <a:normAutofit/>
            </a:bodyPr>
            <a:lstStyle/>
            <a:p>
              <a:pPr algn="ctr"/>
              <a:r>
                <a:rPr lang="en-US" sz="1100" i="1" dirty="0">
                  <a:solidFill>
                    <a:schemeClr val="tx1">
                      <a:lumMod val="65000"/>
                      <a:lumOff val="35000"/>
                    </a:schemeClr>
                  </a:solidFill>
                  <a:latin typeface="Times New Roman" panose="02020603050405020304" pitchFamily="18" charset="0"/>
                  <a:cs typeface="Times New Roman" panose="02020603050405020304" pitchFamily="18" charset="0"/>
                </a:rPr>
                <a:t>Avg. Selling Price by Fuel Type</a:t>
              </a:r>
            </a:p>
          </p:txBody>
        </p:sp>
        <p:sp>
          <p:nvSpPr>
            <p:cNvPr id="104" name="Caption"/>
            <p:cNvSpPr txBox="1"/>
            <p:nvPr/>
          </p:nvSpPr>
          <p:spPr>
            <a:xfrm>
              <a:off x="6006845" y="3920000"/>
              <a:ext cx="3094661" cy="260000"/>
            </a:xfrm>
            <a:prstGeom prst="rect">
              <a:avLst/>
            </a:prstGeom>
          </p:spPr>
          <p:txBody>
            <a:bodyPr wrap="square" lIns="0" tIns="0" anchor="t">
              <a:normAutofit/>
            </a:bodyPr>
            <a:lstStyle/>
            <a:p>
              <a:pPr algn="ctr"/>
              <a:r>
                <a:rPr lang="en-US" sz="1100" i="1" dirty="0">
                  <a:solidFill>
                    <a:schemeClr val="tx1">
                      <a:lumMod val="65000"/>
                      <a:lumOff val="35000"/>
                    </a:schemeClr>
                  </a:solidFill>
                  <a:latin typeface="Times New Roman" panose="02020603050405020304" pitchFamily="18" charset="0"/>
                  <a:cs typeface="Times New Roman" panose="02020603050405020304" pitchFamily="18" charset="0"/>
                </a:rPr>
                <a:t>Avg. Selling Price by Transmission</a:t>
              </a:r>
            </a:p>
          </p:txBody>
        </p:sp>
      </p:grpSp>
      <p:sp>
        <p:nvSpPr>
          <p:cNvPr id="105" name="Observations"/>
          <p:cNvSpPr txBox="1"/>
          <p:nvPr/>
        </p:nvSpPr>
        <p:spPr>
          <a:xfrm>
            <a:off x="1084174" y="4379229"/>
            <a:ext cx="8989153" cy="1763316"/>
          </a:xfrm>
          <a:prstGeom prst="rect">
            <a:avLst/>
          </a:prstGeom>
        </p:spPr>
        <p:txBody>
          <a:bodyPr wrap="square" lIns="0" tIns="0">
            <a:normAutofit/>
          </a:bodyPr>
          <a:lstStyle/>
          <a:p>
            <a:r>
              <a:rPr lang="en-US" sz="1400" b="1" u="sng" dirty="0">
                <a:latin typeface="Times New Roman" panose="02020603050405020304" pitchFamily="18" charset="0"/>
                <a:cs typeface="Times New Roman" panose="02020603050405020304" pitchFamily="18" charset="0"/>
              </a:rPr>
              <a:t>Key Observations</a:t>
            </a:r>
            <a:r>
              <a:rPr lang="en-US" sz="1400" b="1" dirty="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u="sng" dirty="0">
                <a:latin typeface="Times New Roman" panose="02020603050405020304" pitchFamily="18" charset="0"/>
                <a:cs typeface="Times New Roman" panose="02020603050405020304" pitchFamily="18" charset="0"/>
              </a:rPr>
              <a:t>Fuel Type</a:t>
            </a:r>
            <a:r>
              <a:rPr lang="en-US" sz="1400" dirty="0">
                <a:latin typeface="Times New Roman" panose="02020603050405020304" pitchFamily="18" charset="0"/>
                <a:cs typeface="Times New Roman" panose="02020603050405020304" pitchFamily="18" charset="0"/>
              </a:rPr>
              <a:t>: Diesel vehicles have the highest average selling price at ₹10.10 Lakhs, compared to ₹3.26 Lakhs for Petrol and ₹3.10 Lakhs for CNG.</a:t>
            </a:r>
          </a:p>
          <a:p>
            <a:pPr marL="285750" indent="-285750">
              <a:buFont typeface="Arial" panose="020B0604020202020204" pitchFamily="34" charset="0"/>
              <a:buChar char="•"/>
            </a:pPr>
            <a:r>
              <a:rPr lang="en-US" sz="1400" b="1" u="sng" dirty="0">
                <a:latin typeface="Times New Roman" panose="02020603050405020304" pitchFamily="18" charset="0"/>
                <a:cs typeface="Times New Roman" panose="02020603050405020304" pitchFamily="18" charset="0"/>
              </a:rPr>
              <a:t>Transmission</a:t>
            </a:r>
            <a:r>
              <a:rPr lang="en-US" sz="1400" dirty="0">
                <a:latin typeface="Times New Roman" panose="02020603050405020304" pitchFamily="18" charset="0"/>
                <a:cs typeface="Times New Roman" panose="02020603050405020304" pitchFamily="18" charset="0"/>
              </a:rPr>
              <a:t>: Automatic vehicles have an average selling price of ₹9.07 Lakhs, compared to ₹3.92 Lakhs for Manual vehicles.</a:t>
            </a:r>
          </a:p>
          <a:p>
            <a:pPr marL="285750" indent="-285750">
              <a:buFont typeface="Wingdings" panose="05000000000000000000" pitchFamily="2" charset="2"/>
              <a:buChar char="Ø"/>
            </a:pPr>
            <a:r>
              <a:rPr lang="en-US" sz="1400" b="1" u="sng" dirty="0">
                <a:latin typeface="Times New Roman" panose="02020603050405020304" pitchFamily="18" charset="0"/>
                <a:cs typeface="Times New Roman" panose="02020603050405020304" pitchFamily="18" charset="0"/>
              </a:rPr>
              <a:t>Overall</a:t>
            </a:r>
            <a:r>
              <a:rPr lang="en-US" sz="1400" dirty="0">
                <a:latin typeface="Times New Roman" panose="02020603050405020304" pitchFamily="18" charset="0"/>
                <a:cs typeface="Times New Roman" panose="02020603050405020304" pitchFamily="18" charset="0"/>
              </a:rPr>
              <a:t>: Fuel type and transmission show noticeable differences in average selling price in this dataset, likely reflecting differences in vehicle segment and variants.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5"/>
                                        </p:tgtEl>
                                        <p:attrNameLst>
                                          <p:attrName>style.visibility</p:attrName>
                                        </p:attrNameLst>
                                      </p:cBhvr>
                                      <p:to>
                                        <p:strVal val="visible"/>
                                      </p:to>
                                    </p:set>
                                    <p:animEffect transition="in" filter="fade">
                                      <p:cBhvr>
                                        <p:cTn id="21" dur="1000"/>
                                        <p:tgtEl>
                                          <p:spTgt spid="105"/>
                                        </p:tgtEl>
                                      </p:cBhvr>
                                    </p:animEffect>
                                    <p:anim calcmode="lin" valueType="num">
                                      <p:cBhvr>
                                        <p:cTn id="22" dur="1000" fill="hold"/>
                                        <p:tgtEl>
                                          <p:spTgt spid="105"/>
                                        </p:tgtEl>
                                        <p:attrNameLst>
                                          <p:attrName>ppt_x</p:attrName>
                                        </p:attrNameLst>
                                      </p:cBhvr>
                                      <p:tavLst>
                                        <p:tav tm="0">
                                          <p:val>
                                            <p:strVal val="#ppt_x"/>
                                          </p:val>
                                        </p:tav>
                                        <p:tav tm="100000">
                                          <p:val>
                                            <p:strVal val="#ppt_x"/>
                                          </p:val>
                                        </p:tav>
                                      </p:tavLst>
                                    </p:anim>
                                    <p:anim calcmode="lin" valueType="num">
                                      <p:cBhvr>
                                        <p:cTn id="23" dur="1000" fill="hold"/>
                                        <p:tgtEl>
                                          <p:spTgt spid="10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10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4B8F792-44D1-B0B8-63A1-D516C117FA62}"/>
              </a:ext>
            </a:extLst>
          </p:cNvPr>
          <p:cNvSpPr/>
          <p:nvPr/>
        </p:nvSpPr>
        <p:spPr>
          <a:xfrm>
            <a:off x="9295408" y="5306786"/>
            <a:ext cx="518063" cy="5225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p:cNvSpPr>
            <a:spLocks noGrp="1"/>
          </p:cNvSpPr>
          <p:nvPr>
            <p:ph type="title"/>
          </p:nvPr>
        </p:nvSpPr>
        <p:spPr>
          <a:xfrm>
            <a:off x="675957" y="280000"/>
            <a:ext cx="10840086" cy="780000"/>
          </a:xfrm>
        </p:spPr>
        <p:txBody>
          <a:bodyPr>
            <a:normAutofit/>
          </a:bodyPr>
          <a:lstStyle/>
          <a:p>
            <a:r>
              <a:rPr lang="en-US" sz="2600" dirty="0"/>
              <a:t>Most Popular Models by Number of Listings</a:t>
            </a:r>
            <a:endParaRPr lang="en-IN" sz="2600" dirty="0"/>
          </a:p>
        </p:txBody>
      </p:sp>
      <p:pic>
        <p:nvPicPr>
          <p:cNvPr id="101" name="Chart"/>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Lst>
          </a:blip>
          <a:stretch>
            <a:fillRect/>
          </a:stretch>
        </p:blipFill>
        <p:spPr>
          <a:xfrm>
            <a:off x="2500136" y="1003860"/>
            <a:ext cx="4006075" cy="3200000"/>
          </a:xfrm>
          <a:prstGeom prst="rect">
            <a:avLst/>
          </a:prstGeom>
          <a:ln>
            <a:solidFill>
              <a:schemeClr val="tx1"/>
            </a:solidFill>
          </a:ln>
        </p:spPr>
      </p:pic>
      <p:sp>
        <p:nvSpPr>
          <p:cNvPr id="6" name="Rectangle 3">
            <a:extLst>
              <a:ext uri="{FF2B5EF4-FFF2-40B4-BE49-F238E27FC236}">
                <a16:creationId xmlns:a16="http://schemas.microsoft.com/office/drawing/2014/main" id="{6DADD650-E631-1F27-6990-5B983FC30F5E}"/>
              </a:ext>
            </a:extLst>
          </p:cNvPr>
          <p:cNvSpPr>
            <a:spLocks noChangeArrowheads="1"/>
          </p:cNvSpPr>
          <p:nvPr/>
        </p:nvSpPr>
        <p:spPr bwMode="auto">
          <a:xfrm>
            <a:off x="955485" y="4473911"/>
            <a:ext cx="9360310"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Observations</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Popular Models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city is the most-listed vehicle with 26 out of 299 listings, followed by </a:t>
            </a:r>
            <a:r>
              <a:rPr kumimoji="0" lang="en-US" altLang="en-US" sz="1400" b="0" i="1"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Corolla </a:t>
            </a:r>
            <a:r>
              <a:rPr lang="en-US" altLang="en-US" sz="1400" i="1" u="sng" dirty="0">
                <a:latin typeface="Times New Roman" panose="02020603050405020304" pitchFamily="18" charset="0"/>
                <a:cs typeface="Times New Roman" panose="02020603050405020304" pitchFamily="18" charset="0"/>
              </a:rPr>
              <a:t>A</a:t>
            </a:r>
            <a:r>
              <a:rPr kumimoji="0" lang="en-US" altLang="en-US" sz="1400" b="0" i="1"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ltis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1400" b="0" i="1"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16</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4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Verna</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lang="en-US" altLang="en-US" sz="1400" i="1" u="sng" dirty="0">
                <a:latin typeface="Times New Roman" panose="02020603050405020304" pitchFamily="18" charset="0"/>
                <a:cs typeface="Times New Roman" panose="02020603050405020304" pitchFamily="18" charset="0"/>
              </a:rPr>
              <a:t>14</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small number of models make up a large share of the listings, showing higher interest in a few popular models.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Car_Name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mostly contains model names rather than manufacturer names, so this analysis is done at the model level instead of the brand level.</a:t>
            </a:r>
          </a:p>
        </p:txBody>
      </p:sp>
      <p:sp>
        <p:nvSpPr>
          <p:cNvPr id="7" name="Rectangle 6">
            <a:extLst>
              <a:ext uri="{FF2B5EF4-FFF2-40B4-BE49-F238E27FC236}">
                <a16:creationId xmlns:a16="http://schemas.microsoft.com/office/drawing/2014/main" id="{05597DF8-6A85-9CBD-B334-9F339778B29F}"/>
              </a:ext>
            </a:extLst>
          </p:cNvPr>
          <p:cNvSpPr/>
          <p:nvPr/>
        </p:nvSpPr>
        <p:spPr>
          <a:xfrm>
            <a:off x="6694713" y="1583870"/>
            <a:ext cx="522516" cy="4898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1"/>
                                        </p:tgtEl>
                                        <p:attrNameLst>
                                          <p:attrName>style.visibility</p:attrName>
                                        </p:attrNameLst>
                                      </p:cBhvr>
                                      <p:to>
                                        <p:strVal val="visible"/>
                                      </p:to>
                                    </p:set>
                                    <p:animEffect transition="in" filter="fade">
                                      <p:cBhvr>
                                        <p:cTn id="14" dur="1000"/>
                                        <p:tgtEl>
                                          <p:spTgt spid="101"/>
                                        </p:tgtEl>
                                      </p:cBhvr>
                                    </p:animEffect>
                                    <p:anim calcmode="lin" valueType="num">
                                      <p:cBhvr>
                                        <p:cTn id="15" dur="1000" fill="hold"/>
                                        <p:tgtEl>
                                          <p:spTgt spid="101"/>
                                        </p:tgtEl>
                                        <p:attrNameLst>
                                          <p:attrName>ppt_x</p:attrName>
                                        </p:attrNameLst>
                                      </p:cBhvr>
                                      <p:tavLst>
                                        <p:tav tm="0">
                                          <p:val>
                                            <p:strVal val="#ppt_x"/>
                                          </p:val>
                                        </p:tav>
                                        <p:tav tm="100000">
                                          <p:val>
                                            <p:strVal val="#ppt_x"/>
                                          </p:val>
                                        </p:tav>
                                      </p:tavLst>
                                    </p:anim>
                                    <p:anim calcmode="lin" valueType="num">
                                      <p:cBhvr>
                                        <p:cTn id="16" dur="1000" fill="hold"/>
                                        <p:tgtEl>
                                          <p:spTgt spid="10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1"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E75A409-95DF-20E3-F0DA-9C85652891F6}"/>
              </a:ext>
            </a:extLst>
          </p:cNvPr>
          <p:cNvSpPr/>
          <p:nvPr/>
        </p:nvSpPr>
        <p:spPr>
          <a:xfrm>
            <a:off x="6694713" y="1583870"/>
            <a:ext cx="522516" cy="4898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C5D6BB3-809C-D19F-D2BB-D7548CA43101}"/>
              </a:ext>
            </a:extLst>
          </p:cNvPr>
          <p:cNvSpPr/>
          <p:nvPr/>
        </p:nvSpPr>
        <p:spPr>
          <a:xfrm>
            <a:off x="9295408" y="5306786"/>
            <a:ext cx="518063" cy="5225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p:cNvSpPr>
            <a:spLocks noGrp="1"/>
          </p:cNvSpPr>
          <p:nvPr>
            <p:ph type="title"/>
          </p:nvPr>
        </p:nvSpPr>
        <p:spPr>
          <a:xfrm>
            <a:off x="675957" y="280000"/>
            <a:ext cx="10840086" cy="780000"/>
          </a:xfrm>
        </p:spPr>
        <p:txBody>
          <a:bodyPr>
            <a:normAutofit/>
          </a:bodyPr>
          <a:lstStyle/>
          <a:p>
            <a:r>
              <a:rPr lang="en-US" sz="2600" dirty="0"/>
              <a:t>Correlation Analysis of Numerical Variables</a:t>
            </a:r>
            <a:endParaRPr lang="en-IN" sz="2600" dirty="0"/>
          </a:p>
        </p:txBody>
      </p:sp>
      <p:pic>
        <p:nvPicPr>
          <p:cNvPr id="101" name="Chart"/>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3363907" y="1003861"/>
            <a:ext cx="3754347" cy="3300000"/>
          </a:xfrm>
          <a:prstGeom prst="rect">
            <a:avLst/>
          </a:prstGeom>
          <a:ln>
            <a:solidFill>
              <a:schemeClr val="tx1"/>
            </a:solidFill>
          </a:ln>
        </p:spPr>
      </p:pic>
      <p:sp>
        <p:nvSpPr>
          <p:cNvPr id="3" name="Rectangle 2">
            <a:extLst>
              <a:ext uri="{FF2B5EF4-FFF2-40B4-BE49-F238E27FC236}">
                <a16:creationId xmlns:a16="http://schemas.microsoft.com/office/drawing/2014/main" id="{5807B1C4-8D8D-8D64-0A4D-1A4E1DB63D50}"/>
              </a:ext>
            </a:extLst>
          </p:cNvPr>
          <p:cNvSpPr>
            <a:spLocks noChangeArrowheads="1"/>
          </p:cNvSpPr>
          <p:nvPr/>
        </p:nvSpPr>
        <p:spPr bwMode="auto">
          <a:xfrm>
            <a:off x="659725" y="4462016"/>
            <a:ext cx="968801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Observations</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Present Price vs. Selling Price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Selling price has a strong positive correlation with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Present_Price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 0.88)</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showing that vehicles with higher original prices generally have higher resale prices.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Year vs. Selling Price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Selling price has a weak positive correlation with Year </a:t>
            </a:r>
            <a:r>
              <a:rPr kumimoji="0" lang="en-US" altLang="en-US" sz="1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 0.23)</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 newer vehicles generally tend to sell for more.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Kms Driven vs. Selling Price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Selling price has almost no correlation with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Kms_Driven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 0.03)</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this dataset.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Note</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Correlation shows association, not causation. Other factors such as vehicle condition, brand, and location can also affect selling price.</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1"/>
                                        </p:tgtEl>
                                        <p:attrNameLst>
                                          <p:attrName>style.visibility</p:attrName>
                                        </p:attrNameLst>
                                      </p:cBhvr>
                                      <p:to>
                                        <p:strVal val="visible"/>
                                      </p:to>
                                    </p:set>
                                    <p:animEffect transition="in" filter="fade">
                                      <p:cBhvr>
                                        <p:cTn id="14" dur="1000"/>
                                        <p:tgtEl>
                                          <p:spTgt spid="101"/>
                                        </p:tgtEl>
                                      </p:cBhvr>
                                    </p:animEffect>
                                    <p:anim calcmode="lin" valueType="num">
                                      <p:cBhvr>
                                        <p:cTn id="15" dur="1000" fill="hold"/>
                                        <p:tgtEl>
                                          <p:spTgt spid="101"/>
                                        </p:tgtEl>
                                        <p:attrNameLst>
                                          <p:attrName>ppt_x</p:attrName>
                                        </p:attrNameLst>
                                      </p:cBhvr>
                                      <p:tavLst>
                                        <p:tav tm="0">
                                          <p:val>
                                            <p:strVal val="#ppt_x"/>
                                          </p:val>
                                        </p:tav>
                                        <p:tav tm="100000">
                                          <p:val>
                                            <p:strVal val="#ppt_x"/>
                                          </p:val>
                                        </p:tav>
                                      </p:tavLst>
                                    </p:anim>
                                    <p:anim calcmode="lin" valueType="num">
                                      <p:cBhvr>
                                        <p:cTn id="16" dur="1000" fill="hold"/>
                                        <p:tgtEl>
                                          <p:spTgt spid="10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1"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600000"/>
            <a:ext cx="10950000" cy="750000"/>
          </a:xfrm>
        </p:spPr>
        <p:txBody>
          <a:bodyPr>
            <a:normAutofit/>
          </a:bodyPr>
          <a:lstStyle/>
          <a:p>
            <a:r>
              <a:rPr lang="en-US" sz="3200" dirty="0"/>
              <a:t>Key Findings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0" name="Rectangle 9">
            <a:extLst>
              <a:ext uri="{FF2B5EF4-FFF2-40B4-BE49-F238E27FC236}">
                <a16:creationId xmlns:a16="http://schemas.microsoft.com/office/drawing/2014/main" id="{92E9F504-2161-6879-0E62-2FCCA761CAB5}"/>
              </a:ext>
            </a:extLst>
          </p:cNvPr>
          <p:cNvSpPr/>
          <p:nvPr/>
        </p:nvSpPr>
        <p:spPr>
          <a:xfrm>
            <a:off x="6095008" y="1469571"/>
            <a:ext cx="1546763" cy="8817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0D36F5F4-2B33-FCD7-7324-73C391ED473B}"/>
              </a:ext>
            </a:extLst>
          </p:cNvPr>
          <p:cNvSpPr/>
          <p:nvPr/>
        </p:nvSpPr>
        <p:spPr>
          <a:xfrm>
            <a:off x="9323613" y="5363872"/>
            <a:ext cx="522516" cy="4898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FC83D77-D095-3732-B1A3-5AE1EF927ED0}"/>
              </a:ext>
            </a:extLst>
          </p:cNvPr>
          <p:cNvSpPr/>
          <p:nvPr/>
        </p:nvSpPr>
        <p:spPr>
          <a:xfrm>
            <a:off x="9013369" y="5678313"/>
            <a:ext cx="522516" cy="4898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3">
            <a:extLst>
              <a:ext uri="{FF2B5EF4-FFF2-40B4-BE49-F238E27FC236}">
                <a16:creationId xmlns:a16="http://schemas.microsoft.com/office/drawing/2014/main" id="{5345159A-1645-BA8C-4A21-94A6A1A91971}"/>
              </a:ext>
            </a:extLst>
          </p:cNvPr>
          <p:cNvSpPr>
            <a:spLocks noChangeArrowheads="1"/>
          </p:cNvSpPr>
          <p:nvPr/>
        </p:nvSpPr>
        <p:spPr bwMode="auto">
          <a:xfrm>
            <a:off x="391889" y="1270239"/>
            <a:ext cx="10042549"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Fuel Type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Petrol accounts for 79.9% of listings, making it the clear majority fuel type in the dataset.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Transmission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Manual vehicles make up 87.0% of listings, while Automatic vehicles are much less common.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Seller Type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Dealers account for 64.5% of listings, compared to Individual sellers.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Ownership</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96.3% of listed vehicles are first-owner vehicles, and first-owner vehicles have a higher average selling price.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Manufacturing Year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2015 is the most-listed year, with 60 out of 299 vehicles.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Pricing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Average selling price is ₹4.59 Lakhs, with a median of ₹3.51 Lakhs and a range of ₹0.10–35.00 Lakhs.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Present Price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Present_Price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has the strongest relationship with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Selling_Price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 0.88)</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Year &amp; Mileage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Year has a weak positive correlation with selling price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 0.23)</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while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Kms_Driven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shows almost no correlation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 0.03)</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Transmission Price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Automatic vehicles average ₹9.07 Lakhs compared to ₹3.92 Lakhs for Manual vehicles.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Fuel Price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Diesel vehicles have the highest average selling price at ₹10.10 Lakhs, compared to ₹3.26 Lakhs for Petrol and ₹3.10 Lakhs for CNG.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Popular Models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City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the most-listed model with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26</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listings, followed by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Corolla </a:t>
            </a:r>
            <a:r>
              <a:rPr lang="en-US" altLang="en-US" i="1" dirty="0">
                <a:latin typeface="Times New Roman" panose="02020603050405020304" pitchFamily="18" charset="0"/>
                <a:cs typeface="Times New Roman" panose="02020603050405020304" pitchFamily="18" charset="0"/>
              </a:rPr>
              <a:t>A</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ltis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16</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Verna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14</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2DDAA2-60D4-63B1-2CFC-A4CC81C2DEE3}"/>
              </a:ext>
            </a:extLst>
          </p:cNvPr>
          <p:cNvSpPr/>
          <p:nvPr/>
        </p:nvSpPr>
        <p:spPr>
          <a:xfrm>
            <a:off x="6476430" y="1654519"/>
            <a:ext cx="522516" cy="4898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600000"/>
            <a:ext cx="10950000" cy="750000"/>
          </a:xfrm>
        </p:spPr>
        <p:txBody>
          <a:bodyPr>
            <a:normAutofit/>
          </a:bodyPr>
          <a:lstStyle/>
          <a:p>
            <a:r>
              <a:rPr lang="en-US" sz="3200" dirty="0"/>
              <a:t>Conclusion</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06" name="Demo Link"/>
          <p:cNvSpPr txBox="1"/>
          <p:nvPr/>
        </p:nvSpPr>
        <p:spPr>
          <a:xfrm>
            <a:off x="721358" y="5897998"/>
            <a:ext cx="8895082" cy="638805"/>
          </a:xfrm>
          <a:prstGeom prst="rect">
            <a:avLst/>
          </a:prstGeom>
        </p:spPr>
        <p:txBody>
          <a:bodyPr wrap="square" lIns="0" tIns="0"/>
          <a:lstStyle/>
          <a:p>
            <a:r>
              <a:rPr lang="en-US" sz="1600" b="1" u="sng" dirty="0"/>
              <a:t>GitHub Repository Link</a:t>
            </a:r>
            <a:r>
              <a:rPr lang="en-US" sz="1600" b="1" dirty="0"/>
              <a:t>: </a:t>
            </a:r>
            <a:r>
              <a:rPr lang="en-US" sz="1600" b="1" dirty="0">
                <a:hlinkClick r:id="rId3"/>
              </a:rPr>
              <a:t>Devpal's_Car_Market_Trends_Analysis_CarDekho.pptx</a:t>
            </a:r>
            <a:r>
              <a:rPr lang="en-US" sz="1600" b="1" dirty="0"/>
              <a:t> </a:t>
            </a:r>
            <a:endParaRPr lang="en-US" sz="1600" u="sng" dirty="0">
              <a:solidFill>
                <a:srgbClr val="0070C0"/>
              </a:solidFill>
            </a:endParaRPr>
          </a:p>
        </p:txBody>
      </p:sp>
      <p:sp>
        <p:nvSpPr>
          <p:cNvPr id="7" name="Rectangle 1">
            <a:extLst>
              <a:ext uri="{FF2B5EF4-FFF2-40B4-BE49-F238E27FC236}">
                <a16:creationId xmlns:a16="http://schemas.microsoft.com/office/drawing/2014/main" id="{7AEE3D0A-D59D-8106-14FC-BFC31284FB37}"/>
              </a:ext>
            </a:extLst>
          </p:cNvPr>
          <p:cNvSpPr>
            <a:spLocks noChangeArrowheads="1"/>
          </p:cNvSpPr>
          <p:nvPr/>
        </p:nvSpPr>
        <p:spPr bwMode="auto">
          <a:xfrm>
            <a:off x="406041" y="1305341"/>
            <a:ext cx="10335986"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analyzed the official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CarDekho</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used-vehicle dataset with 299 cleaned listings using Python, Pandas, NumPy, Matplotlib, and Seaborn to identify key used-vehicle market trends.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Selling price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most strongly related to a vehicle's original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Present_Price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while Automatic, Diesel, and first-owner vehicles generally have higher selling prices.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Manufacturing year and kilometers driven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show only weak linear relationships with selling price in this dataset, suggesting that vehicle segment, transmission, fuel type, and ownership also play an important role.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listings are mainly dominated by Petrol, Manual, Dealer-listed, and first-owner vehicles, with a few popular models such as city, corolla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altis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verna making up a large share of the listings.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Buyers: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These patterns can help compare asking prices based on fuel type, transmission, ownership, and other vehicle characteristics.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Sellers &amp; Dealers: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Pricing and inventory decisions can be guided by the attributes associated with higher resale prices.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Market Analysts: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notebook provides a reusable and reproducible approach for analyzing used-vehicle pricing trends with new data.</a:t>
            </a:r>
          </a:p>
        </p:txBody>
      </p:sp>
      <p:sp>
        <p:nvSpPr>
          <p:cNvPr id="8" name="Demo Link">
            <a:extLst>
              <a:ext uri="{FF2B5EF4-FFF2-40B4-BE49-F238E27FC236}">
                <a16:creationId xmlns:a16="http://schemas.microsoft.com/office/drawing/2014/main" id="{035B77A6-8FF9-0555-0878-5A112E5E85D4}"/>
              </a:ext>
            </a:extLst>
          </p:cNvPr>
          <p:cNvSpPr txBox="1"/>
          <p:nvPr/>
        </p:nvSpPr>
        <p:spPr>
          <a:xfrm>
            <a:off x="721358" y="6176804"/>
            <a:ext cx="8285482" cy="485774"/>
          </a:xfrm>
          <a:prstGeom prst="rect">
            <a:avLst/>
          </a:prstGeom>
        </p:spPr>
        <p:txBody>
          <a:bodyPr wrap="square" lIns="0" tIns="0"/>
          <a:lstStyle/>
          <a:p>
            <a:r>
              <a:rPr lang="en-US" sz="1600" b="1" u="sng" dirty="0"/>
              <a:t>Google </a:t>
            </a:r>
            <a:r>
              <a:rPr lang="en-US" sz="1600" b="1" u="sng" dirty="0" err="1"/>
              <a:t>Colab</a:t>
            </a:r>
            <a:r>
              <a:rPr lang="en-US" sz="1600" b="1" u="sng" dirty="0"/>
              <a:t> Link</a:t>
            </a:r>
            <a:r>
              <a:rPr lang="en-US" sz="1600" b="1" dirty="0"/>
              <a:t>:  </a:t>
            </a:r>
            <a:r>
              <a:rPr lang="en-US" sz="1600" b="1" dirty="0" err="1">
                <a:solidFill>
                  <a:schemeClr val="accent1">
                    <a:lumMod val="50000"/>
                  </a:schemeClr>
                </a:solidFill>
                <a:hlinkClick r:id="rId4"/>
              </a:rPr>
              <a:t>Devpal's_Car_Market_Trends_Analysis_CarDekho.ipynb</a:t>
            </a:r>
            <a:r>
              <a:rPr lang="en-US" sz="1600" b="1" dirty="0">
                <a:solidFill>
                  <a:schemeClr val="accent1">
                    <a:lumMod val="50000"/>
                  </a:schemeClr>
                </a:solidFill>
              </a:rPr>
              <a:t> </a:t>
            </a:r>
            <a:endParaRPr lang="en-US" sz="1600" u="sng" dirty="0">
              <a:solidFill>
                <a:schemeClr val="accent1">
                  <a:lumMod val="50000"/>
                </a:schemeClr>
              </a:solidFill>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6"/>
                                        </p:tgtEl>
                                        <p:attrNameLst>
                                          <p:attrName>style.visibility</p:attrName>
                                        </p:attrNameLst>
                                      </p:cBhvr>
                                      <p:to>
                                        <p:strVal val="visible"/>
                                      </p:to>
                                    </p:set>
                                    <p:animEffect transition="in" filter="fade">
                                      <p:cBhvr>
                                        <p:cTn id="14" dur="1000"/>
                                        <p:tgtEl>
                                          <p:spTgt spid="106"/>
                                        </p:tgtEl>
                                      </p:cBhvr>
                                    </p:animEffect>
                                    <p:anim calcmode="lin" valueType="num">
                                      <p:cBhvr>
                                        <p:cTn id="15" dur="1000" fill="hold"/>
                                        <p:tgtEl>
                                          <p:spTgt spid="106"/>
                                        </p:tgtEl>
                                        <p:attrNameLst>
                                          <p:attrName>ppt_x</p:attrName>
                                        </p:attrNameLst>
                                      </p:cBhvr>
                                      <p:tavLst>
                                        <p:tav tm="0">
                                          <p:val>
                                            <p:strVal val="#ppt_x"/>
                                          </p:val>
                                        </p:tav>
                                        <p:tav tm="100000">
                                          <p:val>
                                            <p:strVal val="#ppt_x"/>
                                          </p:val>
                                        </p:tav>
                                      </p:tavLst>
                                    </p:anim>
                                    <p:anim calcmode="lin" valueType="num">
                                      <p:cBhvr>
                                        <p:cTn id="16" dur="1000" fill="hold"/>
                                        <p:tgtEl>
                                          <p:spTgt spid="10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6"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infopath/2007/PartnerControls"/>
    <ds:schemaRef ds:uri="http://schemas.microsoft.com/office/2006/documentManagement/types"/>
    <ds:schemaRef ds:uri="71af3243-3dd4-4a8d-8c0d-dd76da1f02a5"/>
    <ds:schemaRef ds:uri="16c05727-aa75-4e4a-9b5f-8a80a1165891"/>
    <ds:schemaRef ds:uri="http://purl.org/dc/elements/1.1/"/>
    <ds:schemaRef ds:uri="http://schemas.openxmlformats.org/package/2006/metadata/core-properties"/>
    <ds:schemaRef ds:uri="http://schemas.microsoft.com/office/2006/metadata/properties"/>
    <ds:schemaRef ds:uri="http://purl.org/dc/term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Facet</Template>
  <TotalTime>737</TotalTime>
  <Words>1719</Words>
  <Application>Microsoft Office PowerPoint</Application>
  <PresentationFormat>Widescreen</PresentationFormat>
  <Paragraphs>104</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Times New Roman</vt:lpstr>
      <vt:lpstr>Trebuchet MS</vt:lpstr>
      <vt:lpstr>Wingdings</vt:lpstr>
      <vt:lpstr>Wingdings 3</vt:lpstr>
      <vt:lpstr>Facet</vt:lpstr>
      <vt:lpstr>Car Market Trends Analysis with CarDekho Data</vt:lpstr>
      <vt:lpstr>PROBLEM  STATEMENT</vt:lpstr>
      <vt:lpstr>Project Description</vt:lpstr>
      <vt:lpstr>WHO ARE THE END USERS?</vt:lpstr>
      <vt:lpstr>Technology Used</vt:lpstr>
      <vt:lpstr>Dataset Overview &amp; Data Cleaning</vt:lpstr>
      <vt:lpstr>Selling Price Distribution &amp; Manufacturing Year Trend</vt:lpstr>
      <vt:lpstr>Market Composition: Fuel Type &amp; Transmission</vt:lpstr>
      <vt:lpstr>Relationship Between Selling Price, Year &amp; Kilometers Driven</vt:lpstr>
      <vt:lpstr>Average Selling Price by Fuel Type &amp; Transmission</vt:lpstr>
      <vt:lpstr>Most Popular Models by Number of Listings</vt:lpstr>
      <vt:lpstr>Correlation Analysis of Numerical Variables</vt:lpstr>
      <vt:lpstr>Key Findings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Devpal Singh Charanjeet Singh Anand</dc:creator>
  <cp:lastModifiedBy>Devpal Singh Anand - [AA.SC.P2MCA25017005]</cp:lastModifiedBy>
  <cp:revision>84</cp:revision>
  <dcterms:created xsi:type="dcterms:W3CDTF">2021-07-11T13:13:15Z</dcterms:created>
  <dcterms:modified xsi:type="dcterms:W3CDTF">2026-08-31T11:23:15Z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