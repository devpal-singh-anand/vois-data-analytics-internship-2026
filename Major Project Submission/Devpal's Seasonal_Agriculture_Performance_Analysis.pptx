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261" r:id="rId10"/>
    <p:sldId id="262" r:id="rId11"/>
    <p:sldId id="263" r:id="rId12"/>
    <p:sldId id="264" r:id="rId13"/>
    <p:sldId id="265" r:id="rId14"/>
    <p:sldId id="341" r:id="rId15"/>
    <p:sldId id="347" r:id="rId16"/>
    <p:sldId id="344"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824" y="403466"/>
            <a:ext cx="2783204" cy="772794"/>
          </a:xfrm>
          <a:prstGeom prst="rect">
            <a:avLst/>
          </a:prstGeom>
        </p:spPr>
        <p:txBody>
          <a:bodyPr wrap="square" lIns="0" tIns="0" rIns="0" bIns="0">
            <a:spAutoFit/>
          </a:bodyPr>
          <a:lstStyle>
            <a:lvl1pPr>
              <a:defRPr sz="41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9752" y="3840480"/>
            <a:ext cx="8538845" cy="1714500"/>
          </a:xfrm>
          <a:prstGeom prst="rect">
            <a:avLst/>
          </a:prstGeom>
        </p:spPr>
        <p:txBody>
          <a:bodyPr wrap="square" lIns="0" tIns="0" rIns="0" bIns="0">
            <a:spAutoFit/>
          </a:bodyPr>
          <a:lstStyle>
            <a:lvl1pPr>
              <a:defRPr sz="1800" b="0" i="0">
                <a:solidFill>
                  <a:srgbClr val="2A2A2A"/>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9/15/2026</a:t>
            </a:fld>
            <a:endParaRPr lang="en-US"/>
          </a:p>
        </p:txBody>
      </p:sp>
      <p:sp>
        <p:nvSpPr>
          <p:cNvPr id="6" name="Holder 6"/>
          <p:cNvSpPr>
            <a:spLocks noGrp="1"/>
          </p:cNvSpPr>
          <p:nvPr>
            <p:ph type="sldNum" sz="quarter" idx="7"/>
          </p:nvPr>
        </p:nvSpPr>
        <p:spPr/>
        <p:txBody>
          <a:bodyPr lIns="0" tIns="0" rIns="0" bIns="0"/>
          <a:lstStyle>
            <a:lvl1pPr>
              <a:defRPr sz="1100" b="0" i="0">
                <a:solidFill>
                  <a:srgbClr val="2D936A"/>
                </a:solidFill>
                <a:latin typeface="Trebuchet MS"/>
                <a:cs typeface="Trebuchet MS"/>
              </a:defRPr>
            </a:lvl1pPr>
          </a:lstStyle>
          <a:p>
            <a:pPr marL="38100">
              <a:lnSpc>
                <a:spcPct val="100000"/>
              </a:lnSpc>
              <a:spcBef>
                <a:spcPts val="20"/>
              </a:spcBef>
            </a:pPr>
            <a:fld id="{81D60167-4931-47E6-BA6A-407CBD079E47}" type="slidenum">
              <a:rPr spc="95" dirty="0"/>
              <a:t>‹#›</a:t>
            </a:fld>
            <a:endParaRPr spc="95" dirty="0"/>
          </a:p>
        </p:txBody>
      </p:sp>
    </p:spTree>
    <p:extLst>
      <p:ext uri="{BB962C8B-B14F-4D97-AF65-F5344CB8AC3E}">
        <p14:creationId xmlns:p14="http://schemas.microsoft.com/office/powerpoint/2010/main" val="1371061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 id="2147483770" r:id="rId22"/>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evpal-singh-anand/VOIS-Data-Analytics-Internship-2026/tree/main/Major%20Project%20Submission"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hyperlink" Target="https://colab.research.google.com/drive/1r5t-AtJ7c2Dx-MqDNArFtnymC5DsYnex?usp=sharin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32428" y="3863035"/>
            <a:ext cx="4795157" cy="408026"/>
          </a:xfrm>
        </p:spPr>
        <p:txBody>
          <a:bodyPr vert="horz" lIns="91440" tIns="45720" rIns="91440" bIns="45720" rtlCol="0" anchor="t">
            <a:normAutofit/>
          </a:bodyPr>
          <a:lstStyle/>
          <a:p>
            <a:pPr algn="r"/>
            <a:r>
              <a:rPr lang="en-US" b="0" dirty="0">
                <a:solidFill>
                  <a:schemeClr val="tx1"/>
                </a:solidFill>
              </a:rPr>
              <a:t>Devpal Singh Charanjeet Singh Anand,</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2064" y="2844750"/>
            <a:ext cx="4998720" cy="743448"/>
          </a:xfrm>
        </p:spPr>
        <p:txBody>
          <a:bodyPr>
            <a:normAutofit fontScale="90000"/>
          </a:bodyPr>
          <a:lstStyle/>
          <a:p>
            <a:r>
              <a:rPr lang="en-US" sz="3200" spc="185" dirty="0">
                <a:latin typeface="Trebuchet MS (body)"/>
              </a:rPr>
              <a:t>Seasonal</a:t>
            </a:r>
            <a:r>
              <a:rPr lang="en-US" sz="3200" spc="55" dirty="0">
                <a:latin typeface="Trebuchet MS (body)"/>
              </a:rPr>
              <a:t> </a:t>
            </a:r>
            <a:r>
              <a:rPr lang="en-US" sz="3200" spc="90" dirty="0">
                <a:latin typeface="Trebuchet MS (body)"/>
              </a:rPr>
              <a:t>Agriculture </a:t>
            </a:r>
            <a:r>
              <a:rPr lang="en-US" sz="3200" spc="120" dirty="0">
                <a:latin typeface="Trebuchet MS (body)"/>
              </a:rPr>
              <a:t>Performance</a:t>
            </a:r>
            <a:r>
              <a:rPr lang="en-US" sz="3200" spc="80" dirty="0">
                <a:latin typeface="Trebuchet MS (body)"/>
              </a:rPr>
              <a:t> </a:t>
            </a:r>
            <a:r>
              <a:rPr lang="en-US" sz="3200" spc="150" dirty="0">
                <a:latin typeface="Trebuchet MS (body)"/>
              </a:rPr>
              <a:t>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18082" y="4720765"/>
            <a:ext cx="5443394" cy="369332"/>
          </a:xfrm>
          <a:prstGeom prst="rect">
            <a:avLst/>
          </a:prstGeom>
          <a:noFill/>
        </p:spPr>
        <p:txBody>
          <a:bodyPr wrap="square" rtlCol="0">
            <a:spAutoFit/>
          </a:bodyPr>
          <a:lstStyle/>
          <a:p>
            <a:r>
              <a:rPr lang="en-US" b="1" dirty="0"/>
              <a:t>AICTE STU ID : STU658299becb6581703057854</a:t>
            </a:r>
          </a:p>
        </p:txBody>
      </p:sp>
      <p:sp>
        <p:nvSpPr>
          <p:cNvPr id="7" name="TextBox 6">
            <a:extLst>
              <a:ext uri="{FF2B5EF4-FFF2-40B4-BE49-F238E27FC236}">
                <a16:creationId xmlns:a16="http://schemas.microsoft.com/office/drawing/2014/main" id="{433DCCFE-4923-55EA-B7EE-449B3CA28AB2}"/>
              </a:ext>
            </a:extLst>
          </p:cNvPr>
          <p:cNvSpPr txBox="1"/>
          <p:nvPr/>
        </p:nvSpPr>
        <p:spPr>
          <a:xfrm>
            <a:off x="575841" y="4219384"/>
            <a:ext cx="6105644" cy="378052"/>
          </a:xfrm>
          <a:prstGeom prst="rect">
            <a:avLst/>
          </a:prstGeom>
          <a:noFill/>
        </p:spPr>
        <p:txBody>
          <a:bodyPr wrap="square">
            <a:spAutoFit/>
          </a:bodyPr>
          <a:lstStyle/>
          <a:p>
            <a:pPr marL="12700" marR="800735" indent="39370">
              <a:lnSpc>
                <a:spcPct val="112000"/>
              </a:lnSpc>
              <a:spcBef>
                <a:spcPts val="100"/>
              </a:spcBef>
            </a:pPr>
            <a:r>
              <a:rPr lang="en-US" sz="1800" spc="114" dirty="0">
                <a:latin typeface="Trebuchet MS"/>
                <a:cs typeface="Trebuchet MS"/>
              </a:rPr>
              <a:t>Amity University Online, Noida</a:t>
            </a:r>
            <a:endParaRPr lang="en-US" sz="1800" dirty="0">
              <a:latin typeface="Trebuchet MS"/>
              <a:cs typeface="Trebuchet MS"/>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9" name="TextBox 8">
            <a:extLst>
              <a:ext uri="{FF2B5EF4-FFF2-40B4-BE49-F238E27FC236}">
                <a16:creationId xmlns:a16="http://schemas.microsoft.com/office/drawing/2014/main" id="{332C4D73-93FB-E76D-32DD-8DEF497C53C8}"/>
              </a:ext>
            </a:extLst>
          </p:cNvPr>
          <p:cNvSpPr txBox="1"/>
          <p:nvPr/>
        </p:nvSpPr>
        <p:spPr>
          <a:xfrm>
            <a:off x="876788" y="1620219"/>
            <a:ext cx="6105644" cy="1310615"/>
          </a:xfrm>
          <a:prstGeom prst="rect">
            <a:avLst/>
          </a:prstGeom>
          <a:noFill/>
        </p:spPr>
        <p:txBody>
          <a:bodyPr wrap="square">
            <a:spAutoFit/>
          </a:bodyPr>
          <a:lstStyle/>
          <a:p>
            <a:pPr marL="12700" marR="5080">
              <a:lnSpc>
                <a:spcPts val="1939"/>
              </a:lnSpc>
              <a:spcBef>
                <a:spcPts val="345"/>
              </a:spcBef>
            </a:pPr>
            <a:r>
              <a:rPr lang="en-US" sz="1800" dirty="0"/>
              <a:t>Agricultural activities depend on different seasonal conditions, farming practices, availability of resources, and market conditions. Because these factors change from season to season, agricultural performance can also vary.</a:t>
            </a:r>
          </a:p>
        </p:txBody>
      </p:sp>
      <p:sp>
        <p:nvSpPr>
          <p:cNvPr id="11" name="TextBox 10">
            <a:extLst>
              <a:ext uri="{FF2B5EF4-FFF2-40B4-BE49-F238E27FC236}">
                <a16:creationId xmlns:a16="http://schemas.microsoft.com/office/drawing/2014/main" id="{460C3350-022B-0B26-4C61-D3245EE6BC0A}"/>
              </a:ext>
            </a:extLst>
          </p:cNvPr>
          <p:cNvSpPr txBox="1"/>
          <p:nvPr/>
        </p:nvSpPr>
        <p:spPr>
          <a:xfrm>
            <a:off x="876783" y="3083686"/>
            <a:ext cx="6105644" cy="1797928"/>
          </a:xfrm>
          <a:prstGeom prst="rect">
            <a:avLst/>
          </a:prstGeom>
          <a:noFill/>
        </p:spPr>
        <p:txBody>
          <a:bodyPr wrap="square">
            <a:spAutoFit/>
          </a:bodyPr>
          <a:lstStyle/>
          <a:p>
            <a:pPr marL="12700" marR="5080">
              <a:lnSpc>
                <a:spcPts val="1939"/>
              </a:lnSpc>
              <a:spcBef>
                <a:spcPts val="345"/>
              </a:spcBef>
            </a:pPr>
            <a:r>
              <a:rPr lang="en-US" sz="1800" dirty="0"/>
              <a:t>The problem is that raw agricultural data does not directly show how performance changes across different seasons or what patterns exist under different seasonal conditions. Therefore, the objective is to analyze the given agricultural dataset and understand these seasonal differences by identifying meaningful patterns, trends, relationships, and variations in the available data.</a:t>
            </a:r>
            <a:endParaRPr lang="en-US" sz="1800" dirty="0">
              <a:latin typeface="Trebuchet MS"/>
              <a:cs typeface="Trebuchet MS"/>
            </a:endParaRPr>
          </a:p>
        </p:txBody>
      </p:sp>
      <p:sp>
        <p:nvSpPr>
          <p:cNvPr id="12" name="object 8">
            <a:extLst>
              <a:ext uri="{FF2B5EF4-FFF2-40B4-BE49-F238E27FC236}">
                <a16:creationId xmlns:a16="http://schemas.microsoft.com/office/drawing/2014/main" id="{A237C695-64A1-79E2-353C-2114726D29C4}"/>
              </a:ext>
            </a:extLst>
          </p:cNvPr>
          <p:cNvSpPr/>
          <p:nvPr/>
        </p:nvSpPr>
        <p:spPr>
          <a:xfrm>
            <a:off x="754602" y="1738132"/>
            <a:ext cx="61594" cy="72567"/>
          </a:xfrm>
          <a:custGeom>
            <a:avLst/>
            <a:gdLst/>
            <a:ahLst/>
            <a:cxnLst/>
            <a:rect l="l" t="t" r="r" b="b"/>
            <a:pathLst>
              <a:path w="319404" h="319405">
                <a:moveTo>
                  <a:pt x="319316" y="0"/>
                </a:moveTo>
                <a:lnTo>
                  <a:pt x="0" y="0"/>
                </a:lnTo>
                <a:lnTo>
                  <a:pt x="0" y="319316"/>
                </a:lnTo>
                <a:lnTo>
                  <a:pt x="159829" y="319316"/>
                </a:lnTo>
                <a:lnTo>
                  <a:pt x="319316" y="319316"/>
                </a:lnTo>
                <a:lnTo>
                  <a:pt x="319316" y="0"/>
                </a:lnTo>
                <a:close/>
              </a:path>
            </a:pathLst>
          </a:custGeom>
          <a:solidFill>
            <a:schemeClr val="tx1"/>
          </a:solidFill>
        </p:spPr>
        <p:txBody>
          <a:bodyPr wrap="square" lIns="0" tIns="0" rIns="0" bIns="0" rtlCol="0"/>
          <a:lstStyle/>
          <a:p>
            <a:endParaRPr dirty="0"/>
          </a:p>
        </p:txBody>
      </p:sp>
      <p:sp>
        <p:nvSpPr>
          <p:cNvPr id="13" name="object 8">
            <a:extLst>
              <a:ext uri="{FF2B5EF4-FFF2-40B4-BE49-F238E27FC236}">
                <a16:creationId xmlns:a16="http://schemas.microsoft.com/office/drawing/2014/main" id="{F326F1AC-5F24-C7CC-EC54-2BA5C49B298C}"/>
              </a:ext>
            </a:extLst>
          </p:cNvPr>
          <p:cNvSpPr/>
          <p:nvPr/>
        </p:nvSpPr>
        <p:spPr>
          <a:xfrm>
            <a:off x="754602" y="3184967"/>
            <a:ext cx="61594" cy="72567"/>
          </a:xfrm>
          <a:custGeom>
            <a:avLst/>
            <a:gdLst/>
            <a:ahLst/>
            <a:cxnLst/>
            <a:rect l="l" t="t" r="r" b="b"/>
            <a:pathLst>
              <a:path w="319404" h="319405">
                <a:moveTo>
                  <a:pt x="319316" y="0"/>
                </a:moveTo>
                <a:lnTo>
                  <a:pt x="0" y="0"/>
                </a:lnTo>
                <a:lnTo>
                  <a:pt x="0" y="319316"/>
                </a:lnTo>
                <a:lnTo>
                  <a:pt x="159829" y="319316"/>
                </a:lnTo>
                <a:lnTo>
                  <a:pt x="319316" y="319316"/>
                </a:lnTo>
                <a:lnTo>
                  <a:pt x="319316" y="0"/>
                </a:lnTo>
                <a:close/>
              </a:path>
            </a:pathLst>
          </a:custGeom>
          <a:solidFill>
            <a:schemeClr val="tx1"/>
          </a:solidFill>
        </p:spPr>
        <p:txBody>
          <a:bodyPr wrap="square" lIns="0" tIns="0" rIns="0" bIns="0" rtlCol="0"/>
          <a:lstStyle/>
          <a:p>
            <a:endParaRPr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childTnLst>
                          </p:cTn>
                        </p:par>
                        <p:par>
                          <p:cTn id="14" fill="hold">
                            <p:stCondLst>
                              <p:cond delay="900"/>
                            </p:stCondLst>
                            <p:childTnLst>
                              <p:par>
                                <p:cTn id="15" presetID="10" presetClass="entr" presetSubtype="0" fill="hold"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E12D13-550E-AA1E-FD86-7D8211D77BC0}"/>
              </a:ext>
            </a:extLst>
          </p:cNvPr>
          <p:cNvSpPr/>
          <p:nvPr/>
        </p:nvSpPr>
        <p:spPr>
          <a:xfrm>
            <a:off x="6547757" y="1617193"/>
            <a:ext cx="533400" cy="574179"/>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462304"/>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96E7C364-08E0-9A58-912D-D11136394A7D}"/>
              </a:ext>
            </a:extLst>
          </p:cNvPr>
          <p:cNvSpPr txBox="1"/>
          <p:nvPr/>
        </p:nvSpPr>
        <p:spPr>
          <a:xfrm>
            <a:off x="660399" y="1293296"/>
            <a:ext cx="8304757" cy="5493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285750" marR="0" lvl="0" indent="-285750" defTabSz="914400" eaLnBrk="0" fontAlgn="base" hangingPunct="0">
              <a:lnSpc>
                <a:spcPct val="100000"/>
              </a:lnSpc>
              <a:spcBef>
                <a:spcPct val="0"/>
              </a:spcBef>
              <a:spcAft>
                <a:spcPct val="0"/>
              </a:spcAft>
              <a:buClrTx/>
              <a:buSzTx/>
              <a:buFont typeface="Arial" panose="020B0604020202020204" pitchFamily="34" charset="0"/>
              <a:buChar char="•"/>
              <a:tabLst/>
              <a:defRPr kumimoji="0" b="1" i="0" u="sng" strike="noStrike" cap="none" normalizeH="0" baseline="0">
                <a:ln>
                  <a:noFill/>
                </a:ln>
                <a:effectLst/>
                <a:latin typeface="Times New Roman" panose="02020603050405020304" pitchFamily="18" charset="0"/>
                <a:cs typeface="Times New Roman" panose="02020603050405020304" pitchFamily="18" charset="0"/>
              </a:defRPr>
            </a:lvl1pPr>
          </a:lstStyle>
          <a:p>
            <a:r>
              <a:rPr lang="en-US" dirty="0"/>
              <a:t>Dataset:</a:t>
            </a:r>
            <a:r>
              <a:rPr lang="en-US" u="none" dirty="0"/>
              <a:t> </a:t>
            </a:r>
            <a:r>
              <a:rPr lang="en-US" b="0" u="none" dirty="0"/>
              <a:t>4,000 farm records spanning the Kharif, Rabi and Zaid seasons, with 28 attributes covering geography, environmental conditions, input usage and farm economics.</a:t>
            </a:r>
          </a:p>
          <a:p>
            <a:r>
              <a:rPr lang="en-US" dirty="0"/>
              <a:t>Tools</a:t>
            </a:r>
            <a:r>
              <a:rPr lang="en-US" b="0" u="none" dirty="0"/>
              <a:t>: Python with Pandas and NumPy for data handling, SciPy for statistical testing, and Matplotlib/Seaborn for visualization, run in </a:t>
            </a:r>
            <a:r>
              <a:rPr lang="en-US" b="0" u="none" dirty="0" err="1"/>
              <a:t>Jupyter</a:t>
            </a:r>
            <a:r>
              <a:rPr lang="en-US" b="0" u="none" dirty="0"/>
              <a:t> Notebook.</a:t>
            </a:r>
          </a:p>
          <a:p>
            <a:r>
              <a:rPr lang="en-US" dirty="0"/>
              <a:t>Cleaning:</a:t>
            </a:r>
            <a:r>
              <a:rPr lang="en-US" b="0" u="none" dirty="0"/>
              <a:t> Missing values in Rainfall, Soil Moisture and Yield (about 1% each) filled using season-wise medians; categorical columns standardized; </a:t>
            </a:r>
            <a:r>
              <a:rPr lang="en-US" b="0" u="none" dirty="0" err="1"/>
              <a:t>Profit_Margin_pct</a:t>
            </a:r>
            <a:r>
              <a:rPr lang="en-US" b="0" u="none" dirty="0"/>
              <a:t> and </a:t>
            </a:r>
            <a:r>
              <a:rPr lang="en-US" b="0" u="none" dirty="0" err="1"/>
              <a:t>Is_Loss</a:t>
            </a:r>
            <a:r>
              <a:rPr lang="en-US" b="0" u="none" dirty="0"/>
              <a:t> features derived.</a:t>
            </a:r>
          </a:p>
          <a:p>
            <a:r>
              <a:rPr lang="en-US" dirty="0"/>
              <a:t>Exploratory Analysis:</a:t>
            </a:r>
            <a:r>
              <a:rPr lang="en-US" b="0" u="none" dirty="0"/>
              <a:t> Univariate, bivariate and multivariate analysis of yield, profit, climate and risk variables across the three seasons.</a:t>
            </a:r>
          </a:p>
          <a:p>
            <a:r>
              <a:rPr lang="en-US" dirty="0"/>
              <a:t>Statistical Testing:</a:t>
            </a:r>
            <a:r>
              <a:rPr lang="en-US" b="0" u="none" dirty="0"/>
              <a:t> Kruskal-Wallis test for yield (skewed distribution) and one-way ANOVA for profit, water efficiency and disease/pest risk, confirming seasonal differences are statistically significant (p &lt; 0.001).</a:t>
            </a:r>
          </a:p>
          <a:p>
            <a:r>
              <a:rPr lang="en-US" dirty="0"/>
              <a:t>Insight Extraction:</a:t>
            </a:r>
            <a:r>
              <a:rPr lang="en-US" b="0" u="none" dirty="0"/>
              <a:t> Correlation heatmaps and grouped comparisons used to identify the strongest seasonal drivers of agricultural performance.</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34750D-5A5A-3877-72EF-BC5CDB1212F4}"/>
              </a:ext>
            </a:extLst>
          </p:cNvPr>
          <p:cNvSpPr/>
          <p:nvPr/>
        </p:nvSpPr>
        <p:spPr>
          <a:xfrm>
            <a:off x="6606939" y="1540171"/>
            <a:ext cx="533400" cy="574179"/>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object 8">
            <a:extLst>
              <a:ext uri="{FF2B5EF4-FFF2-40B4-BE49-F238E27FC236}">
                <a16:creationId xmlns:a16="http://schemas.microsoft.com/office/drawing/2014/main" id="{7D48A452-DDB6-964F-C067-D4782BEC9DFC}"/>
              </a:ext>
            </a:extLst>
          </p:cNvPr>
          <p:cNvSpPr txBox="1"/>
          <p:nvPr/>
        </p:nvSpPr>
        <p:spPr>
          <a:xfrm>
            <a:off x="620008" y="1730827"/>
            <a:ext cx="7394575" cy="3450357"/>
          </a:xfrm>
          <a:prstGeom prst="rect">
            <a:avLst/>
          </a:prstGeom>
        </p:spPr>
        <p:txBody>
          <a:bodyPr vert="horz" lIns="91440" tIns="45720" rIns="91440" bIns="45720" rtlCol="0">
            <a:normAutofit/>
          </a:bodyPr>
          <a:lstStyle>
            <a:defPPr>
              <a:defRPr lang="en-US"/>
            </a:defPPr>
            <a:lvl1pPr marL="228600" indent="-228600">
              <a:spcBef>
                <a:spcPts val="1000"/>
              </a:spcBef>
              <a:spcAft>
                <a:spcPts val="0"/>
              </a:spcAft>
              <a:buClr>
                <a:schemeClr val="accent4"/>
              </a:buClr>
              <a:buSzPct val="80000"/>
              <a:buFont typeface="Arial"/>
              <a:buChar char="•"/>
              <a:defRPr b="1" u="sng">
                <a:solidFill>
                  <a:schemeClr val="tx1">
                    <a:lumMod val="75000"/>
                    <a:lumOff val="25000"/>
                  </a:schemeClr>
                </a:solidFill>
                <a:latin typeface="Times New Roman" panose="02020603050405020304" pitchFamily="18" charset="0"/>
                <a:cs typeface="Times New Roman" panose="02020603050405020304" pitchFamily="18" charset="0"/>
              </a:defRPr>
            </a:lvl1pPr>
            <a:lvl2pPr marL="742950" indent="-28575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2pPr>
            <a:lvl3pPr marL="11430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3pPr>
            <a:lvl4pPr marL="16002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4pPr>
            <a:lvl5pPr marL="20574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dirty="0"/>
              <a:t>Farmers &amp; Agri-Cooperatives:</a:t>
            </a:r>
            <a:r>
              <a:rPr b="0" u="none" dirty="0"/>
              <a:t> Plan sowing, irrigation and input use around season-specific yield and risk patterns.</a:t>
            </a:r>
            <a:endParaRPr lang="en-US" b="0" u="none" dirty="0"/>
          </a:p>
          <a:p>
            <a:r>
              <a:rPr lang="en-US" dirty="0"/>
              <a:t>Agricultural Policy Makers:</a:t>
            </a:r>
            <a:r>
              <a:rPr lang="en-US" b="0" u="none" dirty="0"/>
              <a:t> Use seasonal profit and loss trends to design subsidy, insurance and support schemes.</a:t>
            </a:r>
          </a:p>
          <a:p>
            <a:r>
              <a:rPr lang="en-US" dirty="0"/>
              <a:t>Crop Insurance Providers:</a:t>
            </a:r>
            <a:r>
              <a:rPr lang="en-US" b="0" u="none" dirty="0"/>
              <a:t> Assess seasonal risk (loss share, disease/pest risk) to price policies more accurately.</a:t>
            </a:r>
          </a:p>
          <a:p>
            <a:r>
              <a:rPr lang="en-US" dirty="0"/>
              <a:t>Agri-Input Suppliers:</a:t>
            </a:r>
            <a:r>
              <a:rPr lang="en-US" b="0" u="none" dirty="0"/>
              <a:t> Time fertilizer, pesticide and irrigation product marketing to season-specific demand.</a:t>
            </a:r>
          </a:p>
          <a:p>
            <a:r>
              <a:rPr lang="en-US" dirty="0"/>
              <a:t>Agricultural Researchers &amp; Analysts:</a:t>
            </a:r>
            <a:r>
              <a:rPr lang="en-US" b="0" u="none" dirty="0"/>
              <a:t> Use the findings as a baseline for further seasonal and regional studies.</a:t>
            </a:r>
          </a:p>
          <a:p>
            <a:endParaRPr lang="en-US" dirty="0"/>
          </a:p>
          <a:p>
            <a:endParaRPr lang="en-US" dirty="0"/>
          </a:p>
          <a:p>
            <a:pPr marL="0" indent="0">
              <a:buNone/>
            </a:pPr>
            <a:endParaRPr dirty="0"/>
          </a:p>
        </p:txBody>
      </p:sp>
      <p:sp>
        <p:nvSpPr>
          <p:cNvPr id="5" name="object 10">
            <a:extLst>
              <a:ext uri="{FF2B5EF4-FFF2-40B4-BE49-F238E27FC236}">
                <a16:creationId xmlns:a16="http://schemas.microsoft.com/office/drawing/2014/main" id="{AD83FD26-0392-5D76-7B26-B0A392123039}"/>
              </a:ext>
            </a:extLst>
          </p:cNvPr>
          <p:cNvSpPr txBox="1"/>
          <p:nvPr/>
        </p:nvSpPr>
        <p:spPr>
          <a:xfrm>
            <a:off x="1143253" y="2829420"/>
            <a:ext cx="7386955" cy="551180"/>
          </a:xfrm>
          <a:prstGeom prst="rect">
            <a:avLst/>
          </a:prstGeom>
        </p:spPr>
        <p:txBody>
          <a:bodyPr vert="horz" lIns="91440" tIns="45720" rIns="91440" bIns="45720" rtlCol="0">
            <a:normAutofit/>
          </a:bodyPr>
          <a:lstStyle>
            <a:defPPr>
              <a:defRPr lang="en-US"/>
            </a:defPPr>
            <a:lvl1pPr marL="228600" indent="-228600">
              <a:spcBef>
                <a:spcPts val="1000"/>
              </a:spcBef>
              <a:spcAft>
                <a:spcPts val="0"/>
              </a:spcAft>
              <a:buClr>
                <a:schemeClr val="accent4"/>
              </a:buClr>
              <a:buSzPct val="80000"/>
              <a:buFont typeface="Arial"/>
              <a:buChar char="•"/>
              <a:defRPr b="1" u="sng">
                <a:solidFill>
                  <a:schemeClr val="tx1">
                    <a:lumMod val="75000"/>
                    <a:lumOff val="25000"/>
                  </a:schemeClr>
                </a:solidFill>
                <a:latin typeface="Times New Roman" panose="02020603050405020304" pitchFamily="18" charset="0"/>
                <a:cs typeface="Times New Roman" panose="02020603050405020304" pitchFamily="18" charset="0"/>
              </a:defRPr>
            </a:lvl1pPr>
            <a:lvl2pPr marL="742950" indent="-28575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2pPr>
            <a:lvl3pPr marL="11430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3pPr>
            <a:lvl4pPr marL="16002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4pPr>
            <a:lvl5pPr marL="20574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endParaRPr dirty="0"/>
          </a:p>
        </p:txBody>
      </p:sp>
      <p:sp>
        <p:nvSpPr>
          <p:cNvPr id="7" name="object 12">
            <a:extLst>
              <a:ext uri="{FF2B5EF4-FFF2-40B4-BE49-F238E27FC236}">
                <a16:creationId xmlns:a16="http://schemas.microsoft.com/office/drawing/2014/main" id="{9F06086A-39EF-0EF8-A71C-E0A62EE7CA38}"/>
              </a:ext>
            </a:extLst>
          </p:cNvPr>
          <p:cNvSpPr txBox="1"/>
          <p:nvPr/>
        </p:nvSpPr>
        <p:spPr>
          <a:xfrm>
            <a:off x="1143253" y="3634384"/>
            <a:ext cx="7171690" cy="551180"/>
          </a:xfrm>
          <a:prstGeom prst="rect">
            <a:avLst/>
          </a:prstGeom>
        </p:spPr>
        <p:txBody>
          <a:bodyPr vert="horz" lIns="91440" tIns="45720" rIns="91440" bIns="45720" rtlCol="0">
            <a:normAutofit/>
          </a:bodyPr>
          <a:lstStyle>
            <a:defPPr>
              <a:defRPr lang="en-US"/>
            </a:defPPr>
            <a:lvl1pPr marL="228600" indent="-228600">
              <a:spcBef>
                <a:spcPts val="1000"/>
              </a:spcBef>
              <a:spcAft>
                <a:spcPts val="0"/>
              </a:spcAft>
              <a:buClr>
                <a:schemeClr val="accent4"/>
              </a:buClr>
              <a:buSzPct val="80000"/>
              <a:buFont typeface="Arial"/>
              <a:buChar char="•"/>
              <a:defRPr b="1" u="sng">
                <a:solidFill>
                  <a:schemeClr val="tx1">
                    <a:lumMod val="75000"/>
                    <a:lumOff val="25000"/>
                  </a:schemeClr>
                </a:solidFill>
                <a:latin typeface="Times New Roman" panose="02020603050405020304" pitchFamily="18" charset="0"/>
                <a:cs typeface="Times New Roman" panose="02020603050405020304" pitchFamily="18" charset="0"/>
              </a:defRPr>
            </a:lvl1pPr>
            <a:lvl2pPr marL="742950" indent="-28575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2pPr>
            <a:lvl3pPr marL="11430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3pPr>
            <a:lvl4pPr marL="16002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4pPr>
            <a:lvl5pPr marL="20574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endParaRPr dirty="0"/>
          </a:p>
        </p:txBody>
      </p:sp>
      <p:sp>
        <p:nvSpPr>
          <p:cNvPr id="8" name="object 14">
            <a:extLst>
              <a:ext uri="{FF2B5EF4-FFF2-40B4-BE49-F238E27FC236}">
                <a16:creationId xmlns:a16="http://schemas.microsoft.com/office/drawing/2014/main" id="{372FEA86-3892-051C-0C27-0AA68B3715E4}"/>
              </a:ext>
            </a:extLst>
          </p:cNvPr>
          <p:cNvSpPr txBox="1"/>
          <p:nvPr/>
        </p:nvSpPr>
        <p:spPr>
          <a:xfrm>
            <a:off x="1143253" y="4439348"/>
            <a:ext cx="6914515" cy="551180"/>
          </a:xfrm>
          <a:prstGeom prst="rect">
            <a:avLst/>
          </a:prstGeom>
        </p:spPr>
        <p:txBody>
          <a:bodyPr vert="horz" lIns="91440" tIns="45720" rIns="91440" bIns="45720" rtlCol="0">
            <a:normAutofit/>
          </a:bodyPr>
          <a:lstStyle>
            <a:defPPr>
              <a:defRPr lang="en-US"/>
            </a:defPPr>
            <a:lvl1pPr marL="228600" indent="-228600">
              <a:spcBef>
                <a:spcPts val="1000"/>
              </a:spcBef>
              <a:spcAft>
                <a:spcPts val="0"/>
              </a:spcAft>
              <a:buClr>
                <a:schemeClr val="accent4"/>
              </a:buClr>
              <a:buSzPct val="80000"/>
              <a:buFont typeface="Arial"/>
              <a:buChar char="•"/>
              <a:defRPr b="1" u="sng">
                <a:solidFill>
                  <a:schemeClr val="tx1">
                    <a:lumMod val="75000"/>
                    <a:lumOff val="25000"/>
                  </a:schemeClr>
                </a:solidFill>
                <a:latin typeface="Times New Roman" panose="02020603050405020304" pitchFamily="18" charset="0"/>
                <a:cs typeface="Times New Roman" panose="02020603050405020304" pitchFamily="18" charset="0"/>
              </a:defRPr>
            </a:lvl1pPr>
            <a:lvl2pPr marL="742950" indent="-28575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2pPr>
            <a:lvl3pPr marL="11430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3pPr>
            <a:lvl4pPr marL="16002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4pPr>
            <a:lvl5pPr marL="2057400" indent="-228600">
              <a:spcBef>
                <a:spcPts val="1000"/>
              </a:spcBef>
              <a:spcAft>
                <a:spcPts val="0"/>
              </a:spcAft>
              <a:buClr>
                <a:schemeClr val="accent4"/>
              </a:buClr>
              <a:buSzPct val="80000"/>
              <a:buFont typeface="Wingdings" panose="05000000000000000000" pitchFamily="2" charset="2"/>
              <a:buChar char="§"/>
              <a:defRPr sz="1600">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endParaRPr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00"/>
                                        <p:tgtEl>
                                          <p:spTgt spid="3"/>
                                        </p:tgtEl>
                                      </p:cBhvr>
                                    </p:animEffect>
                                  </p:childTnLst>
                                </p:cTn>
                              </p:par>
                            </p:childTnLst>
                          </p:cTn>
                        </p:par>
                        <p:par>
                          <p:cTn id="14" fill="hold">
                            <p:stCondLst>
                              <p:cond delay="900"/>
                            </p:stCondLst>
                            <p:childTnLst>
                              <p:par>
                                <p:cTn id="15" presetID="10"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par>
                          <p:cTn id="18" fill="hold">
                            <p:stCondLst>
                              <p:cond delay="1300"/>
                            </p:stCondLst>
                            <p:childTnLst>
                              <p:par>
                                <p:cTn id="19" presetID="10"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00"/>
                                        <p:tgtEl>
                                          <p:spTgt spid="7"/>
                                        </p:tgtEl>
                                      </p:cBhvr>
                                    </p:animEffect>
                                  </p:childTnLst>
                                </p:cTn>
                              </p:par>
                            </p:childTnLst>
                          </p:cTn>
                        </p:par>
                        <p:par>
                          <p:cTn id="22" fill="hold">
                            <p:stCondLst>
                              <p:cond delay="1700"/>
                            </p:stCondLst>
                            <p:childTnLst>
                              <p:par>
                                <p:cTn id="23" presetID="10" presetClass="entr" presetSubtype="0"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06119" y="430567"/>
            <a:ext cx="5306291" cy="847817"/>
          </a:xfrm>
        </p:spPr>
        <p:txBody>
          <a:bodyPr>
            <a:normAutofit/>
          </a:bodyPr>
          <a:lstStyle/>
          <a:p>
            <a:r>
              <a:rPr lang="en-US" dirty="0"/>
              <a:t>Technology Used</a:t>
            </a:r>
          </a:p>
        </p:txBody>
      </p:sp>
      <p:sp>
        <p:nvSpPr>
          <p:cNvPr id="3" name="Text Placeholder 1">
            <a:extLst>
              <a:ext uri="{FF2B5EF4-FFF2-40B4-BE49-F238E27FC236}">
                <a16:creationId xmlns:a16="http://schemas.microsoft.com/office/drawing/2014/main" id="{6CAA1B5D-D88E-8C64-CBAA-F0721D881394}"/>
              </a:ext>
            </a:extLst>
          </p:cNvPr>
          <p:cNvSpPr txBox="1">
            <a:spLocks/>
          </p:cNvSpPr>
          <p:nvPr/>
        </p:nvSpPr>
        <p:spPr>
          <a:xfrm>
            <a:off x="1400537" y="1433988"/>
            <a:ext cx="8444503" cy="3990023"/>
          </a:xfrm>
          <a:prstGeom prst="rect">
            <a:avLst/>
          </a:prstGeom>
        </p:spPr>
        <p:txBody>
          <a:bodyPr vert="horz" lIns="91440" tIns="45720" rIns="91440" bIns="45720" rtlCol="0">
            <a:normAutofit/>
          </a:bodyPr>
          <a:lstStyle>
            <a:defPPr>
              <a:defRPr lang="en-US"/>
            </a:defPPr>
            <a:lvl1pPr marL="228600" indent="-228600">
              <a:lnSpc>
                <a:spcPct val="150000"/>
              </a:lnSpc>
              <a:spcBef>
                <a:spcPts val="1000"/>
              </a:spcBef>
              <a:spcAft>
                <a:spcPts val="0"/>
              </a:spcAft>
              <a:buClr>
                <a:schemeClr val="accent4"/>
              </a:buClr>
              <a:buSzPct val="80000"/>
              <a:buFont typeface="Arial"/>
              <a:buChar char="•"/>
              <a:defRPr b="1" u="sng">
                <a:solidFill>
                  <a:schemeClr val="tx1">
                    <a:lumMod val="75000"/>
                    <a:lumOff val="25000"/>
                  </a:schemeClr>
                </a:solidFill>
                <a:latin typeface="Times New Roman" panose="02020603050405020304" pitchFamily="18" charset="0"/>
                <a:cs typeface="Times New Roman" panose="02020603050405020304" pitchFamily="18" charset="0"/>
              </a:defRPr>
            </a:lvl1pPr>
            <a:lvl2pPr marL="742950" indent="-285750">
              <a:spcBef>
                <a:spcPts val="1000"/>
              </a:spcBef>
              <a:spcAft>
                <a:spcPts val="0"/>
              </a:spcAft>
              <a:buClr>
                <a:schemeClr val="accent4"/>
              </a:buClr>
              <a:buSzPct val="80000"/>
              <a:buFont typeface="Wingdings" panose="05000000000000000000" pitchFamily="2" charset="2"/>
              <a:buChar char="§"/>
              <a:defRPr sz="2000">
                <a:solidFill>
                  <a:schemeClr val="tx1">
                    <a:lumMod val="75000"/>
                    <a:lumOff val="25000"/>
                  </a:schemeClr>
                </a:solidFill>
              </a:defRPr>
            </a:lvl2pPr>
            <a:lvl3pPr marL="1143000" indent="-22860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3pPr>
            <a:lvl4pPr marL="1600200" indent="-22860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4pPr>
            <a:lvl5pPr marL="2057400" indent="-22860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lang="en-US" dirty="0"/>
              <a:t>Python:</a:t>
            </a:r>
            <a:r>
              <a:rPr lang="en-US" b="0" u="none" dirty="0"/>
              <a:t> Core programming language used for the analysis.</a:t>
            </a:r>
          </a:p>
          <a:p>
            <a:r>
              <a:rPr lang="en-US" dirty="0"/>
              <a:t>Pandas:</a:t>
            </a:r>
            <a:r>
              <a:rPr lang="en-US" b="0" u="none" dirty="0"/>
              <a:t> Used for data loading, cleaning, transformation, and grouping.</a:t>
            </a:r>
          </a:p>
          <a:p>
            <a:r>
              <a:rPr lang="en-US" dirty="0"/>
              <a:t>NumPy:</a:t>
            </a:r>
            <a:r>
              <a:rPr lang="en-US" b="0" u="none" dirty="0"/>
              <a:t> Used for numerical operations and calculations.</a:t>
            </a:r>
          </a:p>
          <a:p>
            <a:r>
              <a:rPr lang="en-US" dirty="0"/>
              <a:t>Matplotlib:</a:t>
            </a:r>
            <a:r>
              <a:rPr lang="en-US" b="0" u="none" dirty="0"/>
              <a:t> Base plotting library used for charts (histograms, scatter plots, bar charts).</a:t>
            </a:r>
          </a:p>
          <a:p>
            <a:r>
              <a:rPr lang="en-US" dirty="0"/>
              <a:t>Seaborn:</a:t>
            </a:r>
            <a:r>
              <a:rPr lang="en-US" b="0" u="none" dirty="0"/>
              <a:t> Used for statistical visualizations including the correlation heatmap.</a:t>
            </a:r>
          </a:p>
          <a:p>
            <a:r>
              <a:rPr lang="en-US" dirty="0"/>
              <a:t>Google </a:t>
            </a:r>
            <a:r>
              <a:rPr lang="en-US" dirty="0" err="1"/>
              <a:t>Colab</a:t>
            </a:r>
            <a:r>
              <a:rPr lang="en-US" dirty="0"/>
              <a:t> / </a:t>
            </a:r>
            <a:r>
              <a:rPr lang="en-US" dirty="0" err="1"/>
              <a:t>Jupyter</a:t>
            </a:r>
            <a:r>
              <a:rPr lang="en-US" dirty="0"/>
              <a:t> Notebook:</a:t>
            </a:r>
            <a:r>
              <a:rPr lang="en-US" b="0" u="none" dirty="0"/>
              <a:t> Cloud-based notebook environment used to run the full analysis.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nodePh="1">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nodePh="1">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nodePh="1">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4236" y="5363641"/>
            <a:ext cx="457200" cy="457200"/>
          </a:xfrm>
          <a:custGeom>
            <a:avLst/>
            <a:gdLst/>
            <a:ahLst/>
            <a:cxnLst/>
            <a:rect l="l" t="t" r="r" b="b"/>
            <a:pathLst>
              <a:path w="457200" h="457200">
                <a:moveTo>
                  <a:pt x="456844" y="0"/>
                </a:moveTo>
                <a:lnTo>
                  <a:pt x="0" y="0"/>
                </a:lnTo>
                <a:lnTo>
                  <a:pt x="0" y="456844"/>
                </a:lnTo>
                <a:lnTo>
                  <a:pt x="228600" y="456844"/>
                </a:lnTo>
                <a:lnTo>
                  <a:pt x="456844" y="456844"/>
                </a:lnTo>
                <a:lnTo>
                  <a:pt x="456844" y="0"/>
                </a:lnTo>
                <a:close/>
              </a:path>
            </a:pathLst>
          </a:custGeom>
          <a:solidFill>
            <a:srgbClr val="41AF50"/>
          </a:solidFill>
        </p:spPr>
        <p:txBody>
          <a:bodyPr wrap="square" lIns="0" tIns="0" rIns="0" bIns="0" rtlCol="0"/>
          <a:lstStyle/>
          <a:p>
            <a:endParaRPr/>
          </a:p>
        </p:txBody>
      </p:sp>
      <p:sp>
        <p:nvSpPr>
          <p:cNvPr id="5" name="object 5"/>
          <p:cNvSpPr/>
          <p:nvPr/>
        </p:nvSpPr>
        <p:spPr>
          <a:xfrm>
            <a:off x="9354236" y="5897524"/>
            <a:ext cx="179705" cy="179705"/>
          </a:xfrm>
          <a:custGeom>
            <a:avLst/>
            <a:gdLst/>
            <a:ahLst/>
            <a:cxnLst/>
            <a:rect l="l" t="t" r="r" b="b"/>
            <a:pathLst>
              <a:path w="179704" h="179704">
                <a:moveTo>
                  <a:pt x="179641" y="0"/>
                </a:moveTo>
                <a:lnTo>
                  <a:pt x="0" y="0"/>
                </a:lnTo>
                <a:lnTo>
                  <a:pt x="0" y="179641"/>
                </a:lnTo>
                <a:lnTo>
                  <a:pt x="90004" y="179641"/>
                </a:lnTo>
                <a:lnTo>
                  <a:pt x="179641" y="179641"/>
                </a:lnTo>
                <a:lnTo>
                  <a:pt x="179641" y="0"/>
                </a:lnTo>
                <a:close/>
              </a:path>
            </a:pathLst>
          </a:custGeom>
          <a:solidFill>
            <a:srgbClr val="2D936A"/>
          </a:solidFill>
        </p:spPr>
        <p:txBody>
          <a:bodyPr wrap="square" lIns="0" tIns="0" rIns="0" bIns="0" rtlCol="0"/>
          <a:lstStyle/>
          <a:p>
            <a:endParaRPr/>
          </a:p>
        </p:txBody>
      </p:sp>
      <p:sp>
        <p:nvSpPr>
          <p:cNvPr id="7" name="object 7" descr="$PPTXTitle"/>
          <p:cNvSpPr txBox="1">
            <a:spLocks noGrp="1"/>
          </p:cNvSpPr>
          <p:nvPr>
            <p:ph type="ctrTitle"/>
          </p:nvPr>
        </p:nvSpPr>
        <p:spPr>
          <a:xfrm>
            <a:off x="754824" y="403466"/>
            <a:ext cx="2783204" cy="521425"/>
          </a:xfrm>
          <a:prstGeom prst="rect">
            <a:avLst/>
          </a:prstGeom>
        </p:spPr>
        <p:txBody>
          <a:bodyPr vert="horz" wrap="square" lIns="0" tIns="12700" rIns="0" bIns="0" rtlCol="0">
            <a:spAutoFit/>
          </a:bodyPr>
          <a:lstStyle/>
          <a:p>
            <a:pPr marL="12700">
              <a:lnSpc>
                <a:spcPts val="4440"/>
              </a:lnSpc>
              <a:spcBef>
                <a:spcPts val="100"/>
              </a:spcBef>
            </a:pPr>
            <a:r>
              <a:rPr lang="en-US" sz="2900" spc="475" dirty="0"/>
              <a:t>RE</a:t>
            </a:r>
            <a:r>
              <a:rPr lang="en-US" sz="2900" spc="484" dirty="0"/>
              <a:t>S</a:t>
            </a:r>
            <a:r>
              <a:rPr lang="en-US" sz="2900" spc="480" dirty="0"/>
              <a:t>U</a:t>
            </a:r>
            <a:r>
              <a:rPr lang="en-US" sz="2900" spc="-55" dirty="0"/>
              <a:t>L</a:t>
            </a:r>
            <a:r>
              <a:rPr lang="en-US" sz="2900" spc="480" dirty="0"/>
              <a:t>T</a:t>
            </a:r>
            <a:r>
              <a:rPr lang="en-US" sz="2900" spc="484" dirty="0"/>
              <a:t>S</a:t>
            </a:r>
            <a:endParaRPr sz="2900" dirty="0"/>
          </a:p>
        </p:txBody>
      </p:sp>
      <p:sp>
        <p:nvSpPr>
          <p:cNvPr id="10" name="object 10"/>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95" dirty="0"/>
              <a:t>6</a:t>
            </a:fld>
            <a:endParaRPr spc="95" dirty="0"/>
          </a:p>
        </p:txBody>
      </p:sp>
      <p:grpSp>
        <p:nvGrpSpPr>
          <p:cNvPr id="4" name="Group 3">
            <a:extLst>
              <a:ext uri="{FF2B5EF4-FFF2-40B4-BE49-F238E27FC236}">
                <a16:creationId xmlns:a16="http://schemas.microsoft.com/office/drawing/2014/main" id="{52B37FD8-B59B-B5A9-05C9-4AF68AB739E6}"/>
              </a:ext>
            </a:extLst>
          </p:cNvPr>
          <p:cNvGrpSpPr/>
          <p:nvPr/>
        </p:nvGrpSpPr>
        <p:grpSpPr>
          <a:xfrm>
            <a:off x="1402696" y="1341771"/>
            <a:ext cx="8642929" cy="2743201"/>
            <a:chOff x="1270826" y="2097722"/>
            <a:chExt cx="8642929" cy="2743201"/>
          </a:xfrm>
        </p:grpSpPr>
        <p:pic>
          <p:nvPicPr>
            <p:cNvPr id="9" name="object 9" descr="cell56_img10.png"/>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l="49999"/>
            <a:stretch/>
          </p:blipFill>
          <p:spPr>
            <a:xfrm>
              <a:off x="6256155" y="2097722"/>
              <a:ext cx="3657600" cy="2743200"/>
            </a:xfrm>
            <a:prstGeom prst="rect">
              <a:avLst/>
            </a:prstGeom>
            <a:ln>
              <a:solidFill>
                <a:schemeClr val="tx1"/>
              </a:solidFill>
            </a:ln>
          </p:spPr>
        </p:pic>
        <p:pic>
          <p:nvPicPr>
            <p:cNvPr id="11" name="object 9" descr="cell56_img10.png">
              <a:extLst>
                <a:ext uri="{FF2B5EF4-FFF2-40B4-BE49-F238E27FC236}">
                  <a16:creationId xmlns:a16="http://schemas.microsoft.com/office/drawing/2014/main" id="{67B2A3A0-66CC-A7D9-BCB4-32CA2DCF8271}"/>
                </a:ext>
              </a:extLst>
            </p:cNvPr>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r="49085"/>
            <a:stretch/>
          </p:blipFill>
          <p:spPr>
            <a:xfrm>
              <a:off x="1270826" y="2097723"/>
              <a:ext cx="3657600" cy="2743200"/>
            </a:xfrm>
            <a:prstGeom prst="rect">
              <a:avLst/>
            </a:prstGeom>
            <a:ln>
              <a:solidFill>
                <a:schemeClr val="tx1"/>
              </a:solidFill>
            </a:ln>
          </p:spPr>
        </p:pic>
      </p:grpSp>
      <p:sp>
        <p:nvSpPr>
          <p:cNvPr id="13" name="TextBox 12">
            <a:extLst>
              <a:ext uri="{FF2B5EF4-FFF2-40B4-BE49-F238E27FC236}">
                <a16:creationId xmlns:a16="http://schemas.microsoft.com/office/drawing/2014/main" id="{BD233E2B-56D1-D363-C9BB-146C4E3253D9}"/>
              </a:ext>
            </a:extLst>
          </p:cNvPr>
          <p:cNvSpPr txBox="1"/>
          <p:nvPr/>
        </p:nvSpPr>
        <p:spPr>
          <a:xfrm>
            <a:off x="1311002" y="4241126"/>
            <a:ext cx="8980715" cy="1600438"/>
          </a:xfrm>
          <a:prstGeom prst="rect">
            <a:avLst/>
          </a:prstGeom>
          <a:noFill/>
        </p:spPr>
        <p:txBody>
          <a:bodyPr wrap="square">
            <a:spAutoFit/>
          </a:bodyPr>
          <a:lstStyle/>
          <a:p>
            <a:r>
              <a:rPr lang="en-US" sz="1400" b="1" u="sng" dirty="0">
                <a:latin typeface="Times New Roman" panose="02020603050405020304" pitchFamily="18" charset="0"/>
                <a:cs typeface="Times New Roman" panose="02020603050405020304" pitchFamily="18" charset="0"/>
              </a:rPr>
              <a:t>Key Observations:</a:t>
            </a:r>
          </a:p>
          <a:p>
            <a:endParaRPr lang="en-US" sz="1400" b="1" u="sng"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Rainfall:</a:t>
            </a:r>
            <a:r>
              <a:rPr lang="en-US" sz="1400" dirty="0">
                <a:latin typeface="Times New Roman" panose="02020603050405020304" pitchFamily="18" charset="0"/>
                <a:cs typeface="Times New Roman" panose="02020603050405020304" pitchFamily="18" charset="0"/>
              </a:rPr>
              <a:t> Kharif receives the highest average rainfall at approximately 852 mm, while Zaid receives the least at around 299 mm.</a:t>
            </a: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Temperature:</a:t>
            </a:r>
            <a:r>
              <a:rPr lang="en-US" sz="1400" dirty="0">
                <a:latin typeface="Times New Roman" panose="02020603050405020304" pitchFamily="18" charset="0"/>
                <a:cs typeface="Times New Roman" panose="02020603050405020304" pitchFamily="18" charset="0"/>
              </a:rPr>
              <a:t> Zaid is the hottest season, with an average temperature of approximately 31.0°C, despite receiving the least rainfall.</a:t>
            </a:r>
          </a:p>
          <a:p>
            <a:pPr marL="285750" indent="-285750">
              <a:buFont typeface="Wingdings" panose="05000000000000000000" pitchFamily="2" charset="2"/>
              <a:buChar char="Ø"/>
            </a:pPr>
            <a:r>
              <a:rPr lang="en-US" sz="1400" b="1" u="sng" dirty="0">
                <a:latin typeface="Times New Roman" panose="02020603050405020304" pitchFamily="18" charset="0"/>
                <a:cs typeface="Times New Roman" panose="02020603050405020304" pitchFamily="18" charset="0"/>
              </a:rPr>
              <a:t>Overall:</a:t>
            </a:r>
            <a:r>
              <a:rPr lang="en-US" sz="1400" dirty="0">
                <a:latin typeface="Times New Roman" panose="02020603050405020304" pitchFamily="18" charset="0"/>
                <a:cs typeface="Times New Roman" panose="02020603050405020304" pitchFamily="18" charset="0"/>
              </a:rPr>
              <a:t> Kharif is characterized by high rainfall, while Zaid experiences hotter and drier conditions.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4236" y="5363641"/>
            <a:ext cx="457200" cy="457200"/>
          </a:xfrm>
          <a:custGeom>
            <a:avLst/>
            <a:gdLst/>
            <a:ahLst/>
            <a:cxnLst/>
            <a:rect l="l" t="t" r="r" b="b"/>
            <a:pathLst>
              <a:path w="457200" h="457200">
                <a:moveTo>
                  <a:pt x="456844" y="0"/>
                </a:moveTo>
                <a:lnTo>
                  <a:pt x="0" y="0"/>
                </a:lnTo>
                <a:lnTo>
                  <a:pt x="0" y="456844"/>
                </a:lnTo>
                <a:lnTo>
                  <a:pt x="228600" y="456844"/>
                </a:lnTo>
                <a:lnTo>
                  <a:pt x="456844" y="456844"/>
                </a:lnTo>
                <a:lnTo>
                  <a:pt x="456844" y="0"/>
                </a:lnTo>
                <a:close/>
              </a:path>
            </a:pathLst>
          </a:custGeom>
          <a:solidFill>
            <a:srgbClr val="41AF50"/>
          </a:solidFill>
        </p:spPr>
        <p:txBody>
          <a:bodyPr wrap="square" lIns="0" tIns="0" rIns="0" bIns="0" rtlCol="0"/>
          <a:lstStyle/>
          <a:p>
            <a:endParaRPr/>
          </a:p>
        </p:txBody>
      </p:sp>
      <p:sp>
        <p:nvSpPr>
          <p:cNvPr id="5" name="object 5"/>
          <p:cNvSpPr/>
          <p:nvPr/>
        </p:nvSpPr>
        <p:spPr>
          <a:xfrm>
            <a:off x="9354236" y="5897524"/>
            <a:ext cx="179705" cy="179705"/>
          </a:xfrm>
          <a:custGeom>
            <a:avLst/>
            <a:gdLst/>
            <a:ahLst/>
            <a:cxnLst/>
            <a:rect l="l" t="t" r="r" b="b"/>
            <a:pathLst>
              <a:path w="179704" h="179704">
                <a:moveTo>
                  <a:pt x="179641" y="0"/>
                </a:moveTo>
                <a:lnTo>
                  <a:pt x="0" y="0"/>
                </a:lnTo>
                <a:lnTo>
                  <a:pt x="0" y="179641"/>
                </a:lnTo>
                <a:lnTo>
                  <a:pt x="90004" y="179641"/>
                </a:lnTo>
                <a:lnTo>
                  <a:pt x="179641" y="179641"/>
                </a:lnTo>
                <a:lnTo>
                  <a:pt x="179641" y="0"/>
                </a:lnTo>
                <a:close/>
              </a:path>
            </a:pathLst>
          </a:custGeom>
          <a:solidFill>
            <a:srgbClr val="2D936A"/>
          </a:solidFill>
        </p:spPr>
        <p:txBody>
          <a:bodyPr wrap="square" lIns="0" tIns="0" rIns="0" bIns="0" rtlCol="0"/>
          <a:lstStyle/>
          <a:p>
            <a:endParaRPr/>
          </a:p>
        </p:txBody>
      </p:sp>
      <p:sp>
        <p:nvSpPr>
          <p:cNvPr id="7" name="object 7" descr="$PPTXTitle"/>
          <p:cNvSpPr txBox="1">
            <a:spLocks noGrp="1"/>
          </p:cNvSpPr>
          <p:nvPr>
            <p:ph type="ctrTitle"/>
          </p:nvPr>
        </p:nvSpPr>
        <p:spPr>
          <a:xfrm>
            <a:off x="754824" y="403466"/>
            <a:ext cx="2783204" cy="459100"/>
          </a:xfrm>
          <a:prstGeom prst="rect">
            <a:avLst/>
          </a:prstGeom>
        </p:spPr>
        <p:txBody>
          <a:bodyPr vert="horz" wrap="square" lIns="0" tIns="12700" rIns="0" bIns="0" rtlCol="0">
            <a:spAutoFit/>
          </a:bodyPr>
          <a:lstStyle/>
          <a:p>
            <a:pPr marL="12700">
              <a:lnSpc>
                <a:spcPct val="100000"/>
              </a:lnSpc>
              <a:spcBef>
                <a:spcPts val="100"/>
              </a:spcBef>
            </a:pPr>
            <a:r>
              <a:rPr sz="2900" spc="310" dirty="0"/>
              <a:t>RESULTS</a:t>
            </a:r>
            <a:endParaRPr sz="2900" dirty="0"/>
          </a:p>
        </p:txBody>
      </p:sp>
      <p:sp>
        <p:nvSpPr>
          <p:cNvPr id="10" name="object 10"/>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95" dirty="0"/>
              <a:t>7</a:t>
            </a:fld>
            <a:endParaRPr spc="95" dirty="0"/>
          </a:p>
        </p:txBody>
      </p:sp>
      <p:grpSp>
        <p:nvGrpSpPr>
          <p:cNvPr id="4" name="Group 3">
            <a:extLst>
              <a:ext uri="{FF2B5EF4-FFF2-40B4-BE49-F238E27FC236}">
                <a16:creationId xmlns:a16="http://schemas.microsoft.com/office/drawing/2014/main" id="{6644A207-8F86-1B9D-2412-91C7C27FC4D7}"/>
              </a:ext>
            </a:extLst>
          </p:cNvPr>
          <p:cNvGrpSpPr/>
          <p:nvPr/>
        </p:nvGrpSpPr>
        <p:grpSpPr>
          <a:xfrm>
            <a:off x="1311742" y="1274609"/>
            <a:ext cx="8624738" cy="2772137"/>
            <a:chOff x="1311742" y="2009413"/>
            <a:chExt cx="8624738" cy="2772137"/>
          </a:xfrm>
        </p:grpSpPr>
        <p:pic>
          <p:nvPicPr>
            <p:cNvPr id="9" name="object 9" descr="cell59_img11.png"/>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l="-488" r="48202"/>
            <a:stretch/>
          </p:blipFill>
          <p:spPr>
            <a:xfrm>
              <a:off x="1311742" y="2038350"/>
              <a:ext cx="3657600" cy="2743200"/>
            </a:xfrm>
            <a:prstGeom prst="rect">
              <a:avLst/>
            </a:prstGeom>
            <a:ln>
              <a:solidFill>
                <a:schemeClr val="tx1"/>
              </a:solidFill>
            </a:ln>
          </p:spPr>
        </p:pic>
        <p:pic>
          <p:nvPicPr>
            <p:cNvPr id="11" name="object 9" descr="cell59_img11.png">
              <a:extLst>
                <a:ext uri="{FF2B5EF4-FFF2-40B4-BE49-F238E27FC236}">
                  <a16:creationId xmlns:a16="http://schemas.microsoft.com/office/drawing/2014/main" id="{F014C296-FC13-CA03-F424-60D04C431AE8}"/>
                </a:ext>
              </a:extLst>
            </p:cNvPr>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l="51887"/>
            <a:stretch/>
          </p:blipFill>
          <p:spPr>
            <a:xfrm>
              <a:off x="6278880" y="2009413"/>
              <a:ext cx="3657600" cy="2743200"/>
            </a:xfrm>
            <a:prstGeom prst="rect">
              <a:avLst/>
            </a:prstGeom>
            <a:ln>
              <a:solidFill>
                <a:schemeClr val="tx1"/>
              </a:solidFill>
            </a:ln>
          </p:spPr>
        </p:pic>
      </p:grpSp>
      <p:sp>
        <p:nvSpPr>
          <p:cNvPr id="13" name="TextBox 12">
            <a:extLst>
              <a:ext uri="{FF2B5EF4-FFF2-40B4-BE49-F238E27FC236}">
                <a16:creationId xmlns:a16="http://schemas.microsoft.com/office/drawing/2014/main" id="{D8C37AC9-1130-A595-0A0E-4424B3593365}"/>
              </a:ext>
            </a:extLst>
          </p:cNvPr>
          <p:cNvSpPr txBox="1"/>
          <p:nvPr/>
        </p:nvSpPr>
        <p:spPr>
          <a:xfrm>
            <a:off x="1224067" y="4327226"/>
            <a:ext cx="8132347" cy="1815882"/>
          </a:xfrm>
          <a:prstGeom prst="rect">
            <a:avLst/>
          </a:prstGeom>
          <a:noFill/>
        </p:spPr>
        <p:txBody>
          <a:bodyPr wrap="square">
            <a:spAutoFit/>
          </a:bodyPr>
          <a:lstStyle/>
          <a:p>
            <a:r>
              <a:rPr lang="en-US" sz="1400" b="1" u="sng" dirty="0">
                <a:latin typeface="Times New Roman" panose="02020603050405020304" pitchFamily="18" charset="0"/>
                <a:cs typeface="Times New Roman" panose="02020603050405020304" pitchFamily="18" charset="0"/>
              </a:rPr>
              <a:t>Key Observations:</a:t>
            </a:r>
          </a:p>
          <a:p>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Yield:</a:t>
            </a:r>
            <a:r>
              <a:rPr lang="en-US" sz="1400" dirty="0">
                <a:latin typeface="Times New Roman" panose="02020603050405020304" pitchFamily="18" charset="0"/>
                <a:cs typeface="Times New Roman" panose="02020603050405020304" pitchFamily="18" charset="0"/>
              </a:rPr>
              <a:t> Kharif has the highest median yield at 1.95 T/Ha, followed by Rabi at 1.66 T/Ha and Zaid at 1.45 T/Ha.</a:t>
            </a:r>
          </a:p>
          <a:p>
            <a:pPr marL="285750" indent="-285750">
              <a:buFont typeface="Arial" panose="020B0604020202020204" pitchFamily="34" charset="0"/>
              <a:buChar char="•"/>
            </a:pPr>
            <a:r>
              <a:rPr lang="en-US" sz="1400" b="1" u="sng" dirty="0">
                <a:latin typeface="Times New Roman" panose="02020603050405020304" pitchFamily="18" charset="0"/>
                <a:cs typeface="Times New Roman" panose="02020603050405020304" pitchFamily="18" charset="0"/>
              </a:rPr>
              <a:t>Water-Use Efficiency:</a:t>
            </a:r>
            <a:r>
              <a:rPr lang="en-US" sz="1400" dirty="0">
                <a:latin typeface="Times New Roman" panose="02020603050405020304" pitchFamily="18" charset="0"/>
                <a:cs typeface="Times New Roman" panose="02020603050405020304" pitchFamily="18" charset="0"/>
              </a:rPr>
              <a:t> Water-use efficiency follows the same order as yield, with Kharif performing best and Zaid lowest.</a:t>
            </a:r>
          </a:p>
          <a:p>
            <a:pPr marL="285750" indent="-285750">
              <a:buFont typeface="Wingdings" panose="05000000000000000000" pitchFamily="2" charset="2"/>
              <a:buChar char="Ø"/>
            </a:pPr>
            <a:r>
              <a:rPr lang="en-US" sz="1400" b="1" u="sng" dirty="0">
                <a:latin typeface="Times New Roman" panose="02020603050405020304" pitchFamily="18" charset="0"/>
                <a:cs typeface="Times New Roman" panose="02020603050405020304" pitchFamily="18" charset="0"/>
              </a:rPr>
              <a:t>Overall:</a:t>
            </a:r>
            <a:r>
              <a:rPr lang="en-US" sz="1400" dirty="0">
                <a:latin typeface="Times New Roman" panose="02020603050405020304" pitchFamily="18" charset="0"/>
                <a:cs typeface="Times New Roman" panose="02020603050405020304" pitchFamily="18" charset="0"/>
              </a:rPr>
              <a:t> Kharif shows the highest yield and water-use efficiency, while Zaid records the lowest values. Statistical tests indicate significant differences across seasons (p &lt; 0.001).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4236" y="5363641"/>
            <a:ext cx="457200" cy="457200"/>
          </a:xfrm>
          <a:custGeom>
            <a:avLst/>
            <a:gdLst/>
            <a:ahLst/>
            <a:cxnLst/>
            <a:rect l="l" t="t" r="r" b="b"/>
            <a:pathLst>
              <a:path w="457200" h="457200">
                <a:moveTo>
                  <a:pt x="456844" y="0"/>
                </a:moveTo>
                <a:lnTo>
                  <a:pt x="0" y="0"/>
                </a:lnTo>
                <a:lnTo>
                  <a:pt x="0" y="456844"/>
                </a:lnTo>
                <a:lnTo>
                  <a:pt x="228600" y="456844"/>
                </a:lnTo>
                <a:lnTo>
                  <a:pt x="456844" y="456844"/>
                </a:lnTo>
                <a:lnTo>
                  <a:pt x="456844" y="0"/>
                </a:lnTo>
                <a:close/>
              </a:path>
            </a:pathLst>
          </a:custGeom>
          <a:solidFill>
            <a:srgbClr val="41AF50"/>
          </a:solidFill>
        </p:spPr>
        <p:txBody>
          <a:bodyPr wrap="square" lIns="0" tIns="0" rIns="0" bIns="0" rtlCol="0"/>
          <a:lstStyle/>
          <a:p>
            <a:endParaRPr/>
          </a:p>
        </p:txBody>
      </p:sp>
      <p:sp>
        <p:nvSpPr>
          <p:cNvPr id="5" name="object 5"/>
          <p:cNvSpPr/>
          <p:nvPr/>
        </p:nvSpPr>
        <p:spPr>
          <a:xfrm>
            <a:off x="9354236" y="5897524"/>
            <a:ext cx="179705" cy="179705"/>
          </a:xfrm>
          <a:custGeom>
            <a:avLst/>
            <a:gdLst/>
            <a:ahLst/>
            <a:cxnLst/>
            <a:rect l="l" t="t" r="r" b="b"/>
            <a:pathLst>
              <a:path w="179704" h="179704">
                <a:moveTo>
                  <a:pt x="179641" y="0"/>
                </a:moveTo>
                <a:lnTo>
                  <a:pt x="0" y="0"/>
                </a:lnTo>
                <a:lnTo>
                  <a:pt x="0" y="179641"/>
                </a:lnTo>
                <a:lnTo>
                  <a:pt x="90004" y="179641"/>
                </a:lnTo>
                <a:lnTo>
                  <a:pt x="179641" y="179641"/>
                </a:lnTo>
                <a:lnTo>
                  <a:pt x="179641" y="0"/>
                </a:lnTo>
                <a:close/>
              </a:path>
            </a:pathLst>
          </a:custGeom>
          <a:solidFill>
            <a:srgbClr val="2D936A"/>
          </a:solidFill>
        </p:spPr>
        <p:txBody>
          <a:bodyPr wrap="square" lIns="0" tIns="0" rIns="0" bIns="0" rtlCol="0"/>
          <a:lstStyle/>
          <a:p>
            <a:endParaRPr/>
          </a:p>
        </p:txBody>
      </p:sp>
      <p:sp>
        <p:nvSpPr>
          <p:cNvPr id="7" name="object 7" descr="$PPTXTitle"/>
          <p:cNvSpPr txBox="1"/>
          <p:nvPr/>
        </p:nvSpPr>
        <p:spPr>
          <a:xfrm>
            <a:off x="754824" y="385102"/>
            <a:ext cx="2245360" cy="459100"/>
          </a:xfrm>
          <a:prstGeom prst="rect">
            <a:avLst/>
          </a:prstGeom>
        </p:spPr>
        <p:txBody>
          <a:bodyPr vert="horz" wrap="square" lIns="0" tIns="12700" rIns="0" bIns="0" rtlCol="0">
            <a:spAutoFit/>
          </a:bodyPr>
          <a:lstStyle/>
          <a:p>
            <a:pPr marL="12700">
              <a:lnSpc>
                <a:spcPct val="100000"/>
              </a:lnSpc>
              <a:spcBef>
                <a:spcPts val="100"/>
              </a:spcBef>
            </a:pPr>
            <a:r>
              <a:rPr sz="2900" b="1" spc="475" dirty="0">
                <a:latin typeface="Trebuchet MS"/>
                <a:cs typeface="Trebuchet MS"/>
              </a:rPr>
              <a:t>R</a:t>
            </a:r>
            <a:r>
              <a:rPr sz="2900" b="1" spc="465" dirty="0">
                <a:latin typeface="Trebuchet MS"/>
                <a:cs typeface="Trebuchet MS"/>
              </a:rPr>
              <a:t>E</a:t>
            </a:r>
            <a:r>
              <a:rPr sz="2900" b="1" spc="484" dirty="0">
                <a:latin typeface="Trebuchet MS"/>
                <a:cs typeface="Trebuchet MS"/>
              </a:rPr>
              <a:t>S</a:t>
            </a:r>
            <a:r>
              <a:rPr sz="2900" b="1" spc="470" dirty="0">
                <a:latin typeface="Trebuchet MS"/>
                <a:cs typeface="Trebuchet MS"/>
              </a:rPr>
              <a:t>U</a:t>
            </a:r>
            <a:r>
              <a:rPr sz="2900" b="1" spc="-40" dirty="0">
                <a:latin typeface="Trebuchet MS"/>
                <a:cs typeface="Trebuchet MS"/>
              </a:rPr>
              <a:t>L</a:t>
            </a:r>
            <a:r>
              <a:rPr sz="2900" b="1" spc="470" dirty="0">
                <a:latin typeface="Trebuchet MS"/>
                <a:cs typeface="Trebuchet MS"/>
              </a:rPr>
              <a:t>T</a:t>
            </a:r>
            <a:r>
              <a:rPr sz="2900" b="1" spc="480" dirty="0">
                <a:latin typeface="Trebuchet MS"/>
                <a:cs typeface="Trebuchet MS"/>
              </a:rPr>
              <a:t>S</a:t>
            </a:r>
            <a:endParaRPr sz="2900" dirty="0">
              <a:latin typeface="Trebuchet MS"/>
              <a:cs typeface="Trebuchet MS"/>
            </a:endParaRPr>
          </a:p>
        </p:txBody>
      </p:sp>
      <p:pic>
        <p:nvPicPr>
          <p:cNvPr id="10" name="object 10" descr="cell62_img12.png"/>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99334" y="1170936"/>
            <a:ext cx="5486400" cy="3657600"/>
          </a:xfrm>
          <a:prstGeom prst="rect">
            <a:avLst/>
          </a:prstGeom>
          <a:ln>
            <a:solidFill>
              <a:schemeClr val="tx1"/>
            </a:solidFill>
          </a:ln>
        </p:spPr>
      </p:pic>
      <p:sp>
        <p:nvSpPr>
          <p:cNvPr id="11" name="object 11"/>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95" dirty="0"/>
              <a:t>8</a:t>
            </a:fld>
            <a:endParaRPr spc="95" dirty="0"/>
          </a:p>
        </p:txBody>
      </p:sp>
      <p:sp>
        <p:nvSpPr>
          <p:cNvPr id="12" name="Rectangle 2">
            <a:extLst>
              <a:ext uri="{FF2B5EF4-FFF2-40B4-BE49-F238E27FC236}">
                <a16:creationId xmlns:a16="http://schemas.microsoft.com/office/drawing/2014/main" id="{ABB79F8D-C7B0-CCD6-3DD3-68F23256BF47}"/>
              </a:ext>
            </a:extLst>
          </p:cNvPr>
          <p:cNvSpPr>
            <a:spLocks noChangeArrowheads="1"/>
          </p:cNvSpPr>
          <p:nvPr/>
        </p:nvSpPr>
        <p:spPr bwMode="auto">
          <a:xfrm>
            <a:off x="2636520" y="4915831"/>
            <a:ext cx="659892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Observation: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Profitability:</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Average profit declines sharply across seasons, from ₹1,78,915 in Kharif to ₹87,689 in Rabi, while Zaid records a net loss of ₹24,805. Zaid is the only season with negative average profitability, with the differences across seasons being statistically significant (p &lt; 0.001).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4236" y="5363641"/>
            <a:ext cx="457200" cy="457200"/>
          </a:xfrm>
          <a:custGeom>
            <a:avLst/>
            <a:gdLst/>
            <a:ahLst/>
            <a:cxnLst/>
            <a:rect l="l" t="t" r="r" b="b"/>
            <a:pathLst>
              <a:path w="457200" h="457200">
                <a:moveTo>
                  <a:pt x="456844" y="0"/>
                </a:moveTo>
                <a:lnTo>
                  <a:pt x="0" y="0"/>
                </a:lnTo>
                <a:lnTo>
                  <a:pt x="0" y="456844"/>
                </a:lnTo>
                <a:lnTo>
                  <a:pt x="228600" y="456844"/>
                </a:lnTo>
                <a:lnTo>
                  <a:pt x="456844" y="456844"/>
                </a:lnTo>
                <a:lnTo>
                  <a:pt x="456844" y="0"/>
                </a:lnTo>
                <a:close/>
              </a:path>
            </a:pathLst>
          </a:custGeom>
          <a:solidFill>
            <a:srgbClr val="41AF50"/>
          </a:solidFill>
        </p:spPr>
        <p:txBody>
          <a:bodyPr wrap="square" lIns="0" tIns="0" rIns="0" bIns="0" rtlCol="0"/>
          <a:lstStyle/>
          <a:p>
            <a:endParaRPr/>
          </a:p>
        </p:txBody>
      </p:sp>
      <p:sp>
        <p:nvSpPr>
          <p:cNvPr id="5" name="object 5"/>
          <p:cNvSpPr/>
          <p:nvPr/>
        </p:nvSpPr>
        <p:spPr>
          <a:xfrm>
            <a:off x="9354236" y="5897524"/>
            <a:ext cx="179705" cy="179705"/>
          </a:xfrm>
          <a:custGeom>
            <a:avLst/>
            <a:gdLst/>
            <a:ahLst/>
            <a:cxnLst/>
            <a:rect l="l" t="t" r="r" b="b"/>
            <a:pathLst>
              <a:path w="179704" h="179704">
                <a:moveTo>
                  <a:pt x="179641" y="0"/>
                </a:moveTo>
                <a:lnTo>
                  <a:pt x="0" y="0"/>
                </a:lnTo>
                <a:lnTo>
                  <a:pt x="0" y="179641"/>
                </a:lnTo>
                <a:lnTo>
                  <a:pt x="90004" y="179641"/>
                </a:lnTo>
                <a:lnTo>
                  <a:pt x="179641" y="179641"/>
                </a:lnTo>
                <a:lnTo>
                  <a:pt x="179641" y="0"/>
                </a:lnTo>
                <a:close/>
              </a:path>
            </a:pathLst>
          </a:custGeom>
          <a:solidFill>
            <a:srgbClr val="2D936A"/>
          </a:solidFill>
        </p:spPr>
        <p:txBody>
          <a:bodyPr wrap="square" lIns="0" tIns="0" rIns="0" bIns="0" rtlCol="0"/>
          <a:lstStyle/>
          <a:p>
            <a:endParaRPr/>
          </a:p>
        </p:txBody>
      </p:sp>
      <p:sp>
        <p:nvSpPr>
          <p:cNvPr id="7" name="object 7" descr="$PPTXTitle"/>
          <p:cNvSpPr txBox="1"/>
          <p:nvPr/>
        </p:nvSpPr>
        <p:spPr>
          <a:xfrm>
            <a:off x="754824" y="403466"/>
            <a:ext cx="2061210" cy="459100"/>
          </a:xfrm>
          <a:prstGeom prst="rect">
            <a:avLst/>
          </a:prstGeom>
        </p:spPr>
        <p:txBody>
          <a:bodyPr vert="horz" wrap="square" lIns="0" tIns="12700" rIns="0" bIns="0" rtlCol="0">
            <a:spAutoFit/>
          </a:bodyPr>
          <a:lstStyle/>
          <a:p>
            <a:pPr marL="12700">
              <a:lnSpc>
                <a:spcPct val="100000"/>
              </a:lnSpc>
              <a:spcBef>
                <a:spcPts val="100"/>
              </a:spcBef>
            </a:pPr>
            <a:r>
              <a:rPr sz="2900" b="1" spc="365" dirty="0">
                <a:latin typeface="Trebuchet MS"/>
                <a:cs typeface="Trebuchet MS"/>
              </a:rPr>
              <a:t>RESULTS</a:t>
            </a:r>
            <a:endParaRPr sz="2900" dirty="0">
              <a:latin typeface="Trebuchet MS"/>
              <a:cs typeface="Trebuchet MS"/>
            </a:endParaRPr>
          </a:p>
        </p:txBody>
      </p:sp>
      <p:pic>
        <p:nvPicPr>
          <p:cNvPr id="9" name="object 9" descr="cell65_img13.png"/>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699334" y="1170936"/>
            <a:ext cx="5486400" cy="3657600"/>
          </a:xfrm>
          <a:prstGeom prst="rect">
            <a:avLst/>
          </a:prstGeom>
          <a:ln>
            <a:solidFill>
              <a:schemeClr val="tx1"/>
            </a:solidFill>
          </a:ln>
        </p:spPr>
      </p:pic>
      <p:sp>
        <p:nvSpPr>
          <p:cNvPr id="10" name="object 10"/>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95" dirty="0"/>
              <a:t>9</a:t>
            </a:fld>
            <a:endParaRPr spc="95" dirty="0"/>
          </a:p>
        </p:txBody>
      </p:sp>
      <p:sp>
        <p:nvSpPr>
          <p:cNvPr id="4" name="Rectangle 1">
            <a:extLst>
              <a:ext uri="{FF2B5EF4-FFF2-40B4-BE49-F238E27FC236}">
                <a16:creationId xmlns:a16="http://schemas.microsoft.com/office/drawing/2014/main" id="{8AB98FA3-35CE-AF8E-137E-E2438166583C}"/>
              </a:ext>
            </a:extLst>
          </p:cNvPr>
          <p:cNvSpPr>
            <a:spLocks noChangeArrowheads="1"/>
          </p:cNvSpPr>
          <p:nvPr/>
        </p:nvSpPr>
        <p:spPr bwMode="auto">
          <a:xfrm>
            <a:off x="2597099" y="5007465"/>
            <a:ext cx="6446520"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Observation: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Loss-Making Farms:</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share of loss-making farms increases from 42.2% in Kharif to 51.1% in Rabi and 64.5% in Zaid. By Zaid, the majority of farms are operating at a loss.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4236" y="5363641"/>
            <a:ext cx="457200" cy="457200"/>
          </a:xfrm>
          <a:custGeom>
            <a:avLst/>
            <a:gdLst/>
            <a:ahLst/>
            <a:cxnLst/>
            <a:rect l="l" t="t" r="r" b="b"/>
            <a:pathLst>
              <a:path w="457200" h="457200">
                <a:moveTo>
                  <a:pt x="456844" y="0"/>
                </a:moveTo>
                <a:lnTo>
                  <a:pt x="0" y="0"/>
                </a:lnTo>
                <a:lnTo>
                  <a:pt x="0" y="456844"/>
                </a:lnTo>
                <a:lnTo>
                  <a:pt x="228600" y="456844"/>
                </a:lnTo>
                <a:lnTo>
                  <a:pt x="456844" y="456844"/>
                </a:lnTo>
                <a:lnTo>
                  <a:pt x="456844" y="0"/>
                </a:lnTo>
                <a:close/>
              </a:path>
            </a:pathLst>
          </a:custGeom>
          <a:solidFill>
            <a:srgbClr val="41AF50"/>
          </a:solidFill>
        </p:spPr>
        <p:txBody>
          <a:bodyPr wrap="square" lIns="0" tIns="0" rIns="0" bIns="0" rtlCol="0"/>
          <a:lstStyle/>
          <a:p>
            <a:endParaRPr/>
          </a:p>
        </p:txBody>
      </p:sp>
      <p:sp>
        <p:nvSpPr>
          <p:cNvPr id="5" name="object 5"/>
          <p:cNvSpPr/>
          <p:nvPr/>
        </p:nvSpPr>
        <p:spPr>
          <a:xfrm>
            <a:off x="9354236" y="5897524"/>
            <a:ext cx="179705" cy="179705"/>
          </a:xfrm>
          <a:custGeom>
            <a:avLst/>
            <a:gdLst/>
            <a:ahLst/>
            <a:cxnLst/>
            <a:rect l="l" t="t" r="r" b="b"/>
            <a:pathLst>
              <a:path w="179704" h="179704">
                <a:moveTo>
                  <a:pt x="179641" y="0"/>
                </a:moveTo>
                <a:lnTo>
                  <a:pt x="0" y="0"/>
                </a:lnTo>
                <a:lnTo>
                  <a:pt x="0" y="179641"/>
                </a:lnTo>
                <a:lnTo>
                  <a:pt x="90004" y="179641"/>
                </a:lnTo>
                <a:lnTo>
                  <a:pt x="179641" y="179641"/>
                </a:lnTo>
                <a:lnTo>
                  <a:pt x="179641" y="0"/>
                </a:lnTo>
                <a:close/>
              </a:path>
            </a:pathLst>
          </a:custGeom>
          <a:solidFill>
            <a:srgbClr val="2D936A"/>
          </a:solidFill>
        </p:spPr>
        <p:txBody>
          <a:bodyPr wrap="square" lIns="0" tIns="0" rIns="0" bIns="0" rtlCol="0"/>
          <a:lstStyle/>
          <a:p>
            <a:endParaRPr/>
          </a:p>
        </p:txBody>
      </p:sp>
      <p:sp>
        <p:nvSpPr>
          <p:cNvPr id="7" name="object 7" descr="$PPTXTitle"/>
          <p:cNvSpPr txBox="1">
            <a:spLocks noGrp="1"/>
          </p:cNvSpPr>
          <p:nvPr>
            <p:ph type="ctrTitle"/>
          </p:nvPr>
        </p:nvSpPr>
        <p:spPr>
          <a:xfrm>
            <a:off x="754824" y="403466"/>
            <a:ext cx="2783204" cy="459100"/>
          </a:xfrm>
          <a:prstGeom prst="rect">
            <a:avLst/>
          </a:prstGeom>
        </p:spPr>
        <p:txBody>
          <a:bodyPr vert="horz" wrap="square" lIns="0" tIns="12700" rIns="0" bIns="0" rtlCol="0">
            <a:spAutoFit/>
          </a:bodyPr>
          <a:lstStyle/>
          <a:p>
            <a:pPr marL="12700">
              <a:lnSpc>
                <a:spcPct val="100000"/>
              </a:lnSpc>
              <a:spcBef>
                <a:spcPts val="100"/>
              </a:spcBef>
            </a:pPr>
            <a:r>
              <a:rPr sz="2900" spc="310" dirty="0"/>
              <a:t>RESULTS</a:t>
            </a:r>
            <a:endParaRPr sz="2900" dirty="0"/>
          </a:p>
        </p:txBody>
      </p:sp>
      <p:sp>
        <p:nvSpPr>
          <p:cNvPr id="10" name="object 10"/>
          <p:cNvSpPr txBox="1">
            <a:spLocks noGrp="1"/>
          </p:cNvSpPr>
          <p:nvPr>
            <p:ph type="sldNum" sz="quarter" idx="7"/>
          </p:nvPr>
        </p:nvSpPr>
        <p:spPr>
          <a:prstGeom prst="rect">
            <a:avLst/>
          </a:prstGeom>
        </p:spPr>
        <p:txBody>
          <a:bodyPr vert="horz" wrap="square" lIns="0" tIns="2540" rIns="0" bIns="0" rtlCol="0">
            <a:spAutoFit/>
          </a:bodyPr>
          <a:lstStyle/>
          <a:p>
            <a:pPr marL="38100">
              <a:lnSpc>
                <a:spcPct val="100000"/>
              </a:lnSpc>
              <a:spcBef>
                <a:spcPts val="20"/>
              </a:spcBef>
            </a:pPr>
            <a:fld id="{81D60167-4931-47E6-BA6A-407CBD079E47}" type="slidenum">
              <a:rPr spc="95" dirty="0"/>
              <a:t>10</a:t>
            </a:fld>
            <a:endParaRPr spc="95" dirty="0"/>
          </a:p>
        </p:txBody>
      </p:sp>
      <p:grpSp>
        <p:nvGrpSpPr>
          <p:cNvPr id="4" name="Group 3">
            <a:extLst>
              <a:ext uri="{FF2B5EF4-FFF2-40B4-BE49-F238E27FC236}">
                <a16:creationId xmlns:a16="http://schemas.microsoft.com/office/drawing/2014/main" id="{20E5F59C-638F-55CB-B619-686501CCBE03}"/>
              </a:ext>
            </a:extLst>
          </p:cNvPr>
          <p:cNvGrpSpPr/>
          <p:nvPr/>
        </p:nvGrpSpPr>
        <p:grpSpPr>
          <a:xfrm>
            <a:off x="1437935" y="1234440"/>
            <a:ext cx="8643503" cy="2743200"/>
            <a:chOff x="1437935" y="2057400"/>
            <a:chExt cx="8643503" cy="2743200"/>
          </a:xfrm>
        </p:grpSpPr>
        <p:pic>
          <p:nvPicPr>
            <p:cNvPr id="9" name="object 9" descr="cell68_img14.png"/>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l="-524" t="-474" r="48238" b="474"/>
            <a:stretch/>
          </p:blipFill>
          <p:spPr>
            <a:xfrm>
              <a:off x="1437935" y="2057400"/>
              <a:ext cx="3657600" cy="2743200"/>
            </a:xfrm>
            <a:prstGeom prst="rect">
              <a:avLst/>
            </a:prstGeom>
            <a:ln>
              <a:solidFill>
                <a:schemeClr val="tx1"/>
              </a:solidFill>
            </a:ln>
          </p:spPr>
        </p:pic>
        <p:pic>
          <p:nvPicPr>
            <p:cNvPr id="11" name="object 9" descr="cell68_img14.png">
              <a:extLst>
                <a:ext uri="{FF2B5EF4-FFF2-40B4-BE49-F238E27FC236}">
                  <a16:creationId xmlns:a16="http://schemas.microsoft.com/office/drawing/2014/main" id="{37D078BC-F451-8B86-FDD0-29F949C42AAD}"/>
                </a:ext>
              </a:extLst>
            </p:cNvPr>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rcRect l="51802"/>
            <a:stretch/>
          </p:blipFill>
          <p:spPr>
            <a:xfrm>
              <a:off x="6423838" y="2057400"/>
              <a:ext cx="3657600" cy="2743200"/>
            </a:xfrm>
            <a:prstGeom prst="rect">
              <a:avLst/>
            </a:prstGeom>
            <a:ln>
              <a:solidFill>
                <a:schemeClr val="tx1"/>
              </a:solidFill>
            </a:ln>
          </p:spPr>
        </p:pic>
      </p:grpSp>
      <p:sp>
        <p:nvSpPr>
          <p:cNvPr id="12" name="Rectangle 1">
            <a:extLst>
              <a:ext uri="{FF2B5EF4-FFF2-40B4-BE49-F238E27FC236}">
                <a16:creationId xmlns:a16="http://schemas.microsoft.com/office/drawing/2014/main" id="{5EC44A08-FCED-6B06-B52C-DC3421BE137F}"/>
              </a:ext>
            </a:extLst>
          </p:cNvPr>
          <p:cNvSpPr>
            <a:spLocks noChangeArrowheads="1"/>
          </p:cNvSpPr>
          <p:nvPr/>
        </p:nvSpPr>
        <p:spPr bwMode="auto">
          <a:xfrm>
            <a:off x="1331254" y="4241222"/>
            <a:ext cx="9108145"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Observations: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sng"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Disease/Pest Risk:</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Disease/pest risk is higher in Kharif (54.5%) than in Zaid (38.2%).</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 Correlation:</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Disease/pest risk shows a strong positive correlation with rainfall (r ≈ 0.63), indicating that higher rainfall is associated with greater crop-health risk.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Kharif combines higher rainfall with greater disease/pest risk, showing that the season with stronger crop performance also faces greater crop-health challenges.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200"/>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400"/>
                                        <p:tgtEl>
                                          <p:spTgt spid="5"/>
                                        </p:tgtEl>
                                      </p:cBhvr>
                                    </p:animEffect>
                                  </p:childTnLst>
                                </p:cTn>
                              </p:par>
                            </p:childTnLst>
                          </p:cTn>
                        </p:par>
                        <p:par>
                          <p:cTn id="12" fill="hold">
                            <p:stCondLst>
                              <p:cond delay="8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F7E43EE-D138-0A8C-88CE-F55996814C2D}"/>
              </a:ext>
            </a:extLst>
          </p:cNvPr>
          <p:cNvSpPr/>
          <p:nvPr/>
        </p:nvSpPr>
        <p:spPr>
          <a:xfrm>
            <a:off x="6570734" y="1585448"/>
            <a:ext cx="470146" cy="426232"/>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object 11">
            <a:extLst>
              <a:ext uri="{FF2B5EF4-FFF2-40B4-BE49-F238E27FC236}">
                <a16:creationId xmlns:a16="http://schemas.microsoft.com/office/drawing/2014/main" id="{410C5E33-F132-F221-D95C-0E681237D3E6}"/>
              </a:ext>
            </a:extLst>
          </p:cNvPr>
          <p:cNvSpPr txBox="1">
            <a:spLocks/>
          </p:cNvSpPr>
          <p:nvPr/>
        </p:nvSpPr>
        <p:spPr>
          <a:xfrm>
            <a:off x="675957" y="1305646"/>
            <a:ext cx="8269605" cy="4631011"/>
          </a:xfrm>
          <a:prstGeom prst="rect">
            <a:avLst/>
          </a:prstGeom>
        </p:spPr>
        <p:txBody>
          <a:bodyPr vert="horz" lIns="91440" tIns="45720" rIns="91440" bIns="45720" rtlCol="0">
            <a:normAutofit lnSpcReduction="10000"/>
          </a:bodyPr>
          <a:lstStyle>
            <a:defPPr>
              <a:defRPr lang="en-US"/>
            </a:defPPr>
            <a:lvl1pPr marL="228600" indent="-228600">
              <a:lnSpc>
                <a:spcPct val="150000"/>
              </a:lnSpc>
              <a:spcBef>
                <a:spcPts val="1000"/>
              </a:spcBef>
              <a:spcAft>
                <a:spcPts val="0"/>
              </a:spcAft>
              <a:buClr>
                <a:schemeClr val="accent4"/>
              </a:buClr>
              <a:buSzPct val="80000"/>
              <a:buFont typeface="Arial"/>
              <a:buChar char="•"/>
              <a:defRPr b="1" u="sng">
                <a:solidFill>
                  <a:schemeClr val="tx1">
                    <a:lumMod val="75000"/>
                    <a:lumOff val="25000"/>
                  </a:schemeClr>
                </a:solidFill>
                <a:latin typeface="Times New Roman" panose="02020603050405020304" pitchFamily="18" charset="0"/>
                <a:cs typeface="Times New Roman" panose="02020603050405020304" pitchFamily="18" charset="0"/>
              </a:defRPr>
            </a:lvl1pPr>
            <a:lvl2pPr marL="742950" indent="-285750">
              <a:spcBef>
                <a:spcPts val="1000"/>
              </a:spcBef>
              <a:spcAft>
                <a:spcPts val="0"/>
              </a:spcAft>
              <a:buClr>
                <a:schemeClr val="accent4"/>
              </a:buClr>
              <a:buSzPct val="80000"/>
              <a:buFont typeface="Wingdings" panose="05000000000000000000" pitchFamily="2" charset="2"/>
              <a:buChar char="§"/>
              <a:defRPr sz="2000">
                <a:solidFill>
                  <a:schemeClr val="tx1">
                    <a:lumMod val="75000"/>
                    <a:lumOff val="25000"/>
                  </a:schemeClr>
                </a:solidFill>
              </a:defRPr>
            </a:lvl2pPr>
            <a:lvl3pPr marL="1143000" indent="-22860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3pPr>
            <a:lvl4pPr marL="1600200" indent="-22860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4pPr>
            <a:lvl5pPr marL="2057400" indent="-228600">
              <a:spcBef>
                <a:spcPts val="1000"/>
              </a:spcBef>
              <a:spcAft>
                <a:spcPts val="0"/>
              </a:spcAft>
              <a:buClr>
                <a:schemeClr val="accent4"/>
              </a:buClr>
              <a:buSzPct val="80000"/>
              <a:buFont typeface="Wingdings" panose="05000000000000000000" pitchFamily="2" charset="2"/>
              <a:buChar char="§"/>
              <a:defRPr>
                <a:solidFill>
                  <a:schemeClr val="tx1">
                    <a:lumMod val="75000"/>
                    <a:lumOff val="25000"/>
                  </a:schemeClr>
                </a:solidFill>
              </a:defRPr>
            </a:lvl5pPr>
            <a:lvl6pPr marL="25146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6pPr>
            <a:lvl7pPr marL="29718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7pPr>
            <a:lvl8pPr marL="34290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8pPr>
            <a:lvl9pPr marL="3886200" indent="-228600">
              <a:spcBef>
                <a:spcPts val="1000"/>
              </a:spcBef>
              <a:spcAft>
                <a:spcPts val="0"/>
              </a:spcAft>
              <a:buClr>
                <a:schemeClr val="accent1"/>
              </a:buClr>
              <a:buSzPct val="80000"/>
              <a:buFont typeface="Wingdings 3" charset="2"/>
              <a:buChar char=""/>
              <a:defRPr sz="1200">
                <a:solidFill>
                  <a:schemeClr val="tx1">
                    <a:lumMod val="75000"/>
                    <a:lumOff val="25000"/>
                  </a:schemeClr>
                </a:solidFill>
              </a:defRPr>
            </a:lvl9pPr>
          </a:lstStyle>
          <a:p>
            <a:r>
              <a:rPr lang="en-US" dirty="0"/>
              <a:t>Predictive Modeling:</a:t>
            </a:r>
            <a:r>
              <a:rPr lang="en-US" b="0" u="none" dirty="0"/>
              <a:t> Build regression/ML models to forecast yield and profit for upcoming seasons using climate and input data.</a:t>
            </a:r>
          </a:p>
          <a:p>
            <a:r>
              <a:rPr lang="en-US" dirty="0"/>
              <a:t>Loss-Risk Classification:</a:t>
            </a:r>
            <a:r>
              <a:rPr lang="en-US" b="0" u="none" dirty="0"/>
              <a:t> Train a classifier to flag farms at high risk of loss before the season, enabling early intervention.</a:t>
            </a:r>
          </a:p>
          <a:p>
            <a:r>
              <a:rPr lang="en-US" dirty="0"/>
              <a:t>Real-Time Weather Integration:</a:t>
            </a:r>
            <a:r>
              <a:rPr lang="en-US" b="0" u="none" dirty="0"/>
              <a:t> Combine live rainfall/temperature feeds with the model for dynamic, in-season advisories.</a:t>
            </a:r>
          </a:p>
          <a:p>
            <a:r>
              <a:rPr lang="en-US" dirty="0"/>
              <a:t>Regional Expansion:</a:t>
            </a:r>
            <a:r>
              <a:rPr lang="en-US" b="0" u="none" dirty="0"/>
              <a:t> Extend the analysis to state and district level to capture local </a:t>
            </a:r>
            <a:r>
              <a:rPr lang="en-US" b="0" u="none" dirty="0" err="1"/>
              <a:t>agro</a:t>
            </a:r>
            <a:r>
              <a:rPr lang="en-US" b="0" u="none" dirty="0"/>
              <a:t>-climatic variation.</a:t>
            </a:r>
          </a:p>
          <a:p>
            <a:r>
              <a:rPr lang="en-US" dirty="0"/>
              <a:t>Interactive Dashboard:</a:t>
            </a:r>
            <a:r>
              <a:rPr lang="en-US" b="0" u="none" dirty="0"/>
              <a:t> Convert the notebook into a dashboard (Power BI / </a:t>
            </a:r>
            <a:r>
              <a:rPr lang="en-US" b="0" u="none" dirty="0" err="1"/>
              <a:t>Streamlit</a:t>
            </a:r>
            <a:r>
              <a:rPr lang="en-US" b="0" u="none" dirty="0"/>
              <a:t>) so farmers and planners can explore seasonal trends themselves.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2DDAA2-60D4-63B1-2CFC-A4CC81C2DEE3}"/>
              </a:ext>
            </a:extLst>
          </p:cNvPr>
          <p:cNvSpPr/>
          <p:nvPr/>
        </p:nvSpPr>
        <p:spPr>
          <a:xfrm>
            <a:off x="6476430" y="1654519"/>
            <a:ext cx="522516" cy="489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420381"/>
            <a:ext cx="10950000" cy="750000"/>
          </a:xfrm>
        </p:spPr>
        <p:txBody>
          <a:bodyPr>
            <a:normAutofit/>
          </a:bodyPr>
          <a:lstStyle/>
          <a:p>
            <a:r>
              <a:rPr lang="en-US" sz="3200" dirty="0"/>
              <a:t>Conclusion</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7" name="Rectangle 1">
            <a:extLst>
              <a:ext uri="{FF2B5EF4-FFF2-40B4-BE49-F238E27FC236}">
                <a16:creationId xmlns:a16="http://schemas.microsoft.com/office/drawing/2014/main" id="{7AEE3D0A-D59D-8106-14FC-BFC31284FB37}"/>
              </a:ext>
            </a:extLst>
          </p:cNvPr>
          <p:cNvSpPr>
            <a:spLocks noChangeArrowheads="1"/>
          </p:cNvSpPr>
          <p:nvPr/>
        </p:nvSpPr>
        <p:spPr bwMode="auto">
          <a:xfrm>
            <a:off x="406041" y="1013614"/>
            <a:ext cx="1033598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This project analyzed the agricultural dataset using Python, Pandas, NumPy, Matplotlib, and Seaborn to identify meaningful seasonal patterns, trends, relationships, and variations in agricultural performance.</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Agricultural performance varies across seasons, with changes in production and other agricultural indicators reflecting the influence of seasonal conditions and farming-related factors. The analysis helped identify which variables show noticeable differences across seasons and how these variations contribute to overall agricultural performance.</a:t>
            </a: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The seasonal comparison provides a clearer understanding of agricultural trends that are not immediately visible in the raw dataset. Visualizations and statistical analysis were used to compare seasonal performance and identify recurring patterns, differences, and relationships within the available data.</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For Farmers:</a:t>
            </a:r>
            <a:r>
              <a:rPr lang="en-US" dirty="0">
                <a:latin typeface="Times New Roman" panose="02020603050405020304" pitchFamily="18" charset="0"/>
                <a:cs typeface="Times New Roman" panose="02020603050405020304" pitchFamily="18" charset="0"/>
              </a:rPr>
              <a:t> These insights can help understand seasonal performance patterns and support better planning of agricultural activities based on observed trends.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For Agricultural Planners &amp; Decision-Makers:</a:t>
            </a:r>
            <a:r>
              <a:rPr lang="en-US" altLang="en-US" dirty="0">
                <a:latin typeface="Times New Roman" panose="02020603050405020304" pitchFamily="18" charset="0"/>
                <a:cs typeface="Times New Roman" panose="02020603050405020304" pitchFamily="18" charset="0"/>
              </a:rPr>
              <a:t> Seasonal patterns can support resource planning and more informed decisions by highlighting variations in agricultural performance across different seasons.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defTabSz="914400" eaLnBrk="0" fontAlgn="base" hangingPunct="0">
              <a:spcBef>
                <a:spcPct val="0"/>
              </a:spcBef>
              <a:spcAft>
                <a:spcPct val="0"/>
              </a:spcAft>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For Data Analysts: </a:t>
            </a:r>
            <a:r>
              <a:rPr lang="en-US" altLang="en-US" dirty="0">
                <a:latin typeface="Times New Roman" panose="02020603050405020304" pitchFamily="18" charset="0"/>
                <a:cs typeface="Times New Roman" panose="02020603050405020304" pitchFamily="18" charset="0"/>
              </a:rPr>
              <a:t>The notebook provides a structured and reproducible approach for exploring agricultural datasets and identifying seasonal trends that can be further analyzed with new or larger datasets.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481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828357" y="2372726"/>
            <a:ext cx="4735798" cy="830997"/>
          </a:xfrm>
        </p:spPr>
        <p:txBody>
          <a:bodyPr>
            <a:normAutofit/>
          </a:bodyPr>
          <a:lstStyle/>
          <a:p>
            <a:r>
              <a:rPr lang="en-IN" sz="4000" dirty="0"/>
              <a:t>Google </a:t>
            </a:r>
            <a:r>
              <a:rPr lang="en-IN" sz="4000" dirty="0" err="1"/>
              <a:t>Colab</a:t>
            </a:r>
            <a:r>
              <a:rPr lang="en-IN" sz="4000" dirty="0"/>
              <a:t>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828357" y="1328084"/>
            <a:ext cx="7232875" cy="369332"/>
          </a:xfrm>
          <a:prstGeom prst="rect">
            <a:avLst/>
          </a:prstGeom>
          <a:noFill/>
        </p:spPr>
        <p:txBody>
          <a:bodyPr wrap="square">
            <a:spAutoFit/>
          </a:bodyPr>
          <a:lstStyle/>
          <a:p>
            <a:r>
              <a:rPr lang="en-US" dirty="0" err="1">
                <a:hlinkClick r:id="rId3"/>
              </a:rPr>
              <a:t>Devpal's</a:t>
            </a:r>
            <a:r>
              <a:rPr lang="en-US" dirty="0">
                <a:hlinkClick r:id="rId3"/>
              </a:rPr>
              <a:t> Seasonal_Agriculture_Performance_Analysis.pptx</a:t>
            </a:r>
            <a:endParaRPr lang="en-US" dirty="0"/>
          </a:p>
        </p:txBody>
      </p:sp>
      <p:sp>
        <p:nvSpPr>
          <p:cNvPr id="2" name="Title 3">
            <a:extLst>
              <a:ext uri="{FF2B5EF4-FFF2-40B4-BE49-F238E27FC236}">
                <a16:creationId xmlns:a16="http://schemas.microsoft.com/office/drawing/2014/main" id="{54E40225-3965-6D59-86CD-FD7C0E1A5CE9}"/>
              </a:ext>
            </a:extLst>
          </p:cNvPr>
          <p:cNvSpPr txBox="1">
            <a:spLocks/>
          </p:cNvSpPr>
          <p:nvPr/>
        </p:nvSpPr>
        <p:spPr>
          <a:xfrm>
            <a:off x="828357" y="522989"/>
            <a:ext cx="4735798"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4000"/>
              <a:t>GitHub Link</a:t>
            </a:r>
            <a:endParaRPr lang="en-IN" sz="4000" dirty="0"/>
          </a:p>
        </p:txBody>
      </p:sp>
      <p:sp>
        <p:nvSpPr>
          <p:cNvPr id="6" name="TextBox 5">
            <a:extLst>
              <a:ext uri="{FF2B5EF4-FFF2-40B4-BE49-F238E27FC236}">
                <a16:creationId xmlns:a16="http://schemas.microsoft.com/office/drawing/2014/main" id="{0E979BD1-CEB1-2BBE-CD2E-BE977AB5B73A}"/>
              </a:ext>
            </a:extLst>
          </p:cNvPr>
          <p:cNvSpPr txBox="1"/>
          <p:nvPr/>
        </p:nvSpPr>
        <p:spPr>
          <a:xfrm>
            <a:off x="828357" y="3203723"/>
            <a:ext cx="7232875" cy="369332"/>
          </a:xfrm>
          <a:prstGeom prst="rect">
            <a:avLst/>
          </a:prstGeom>
          <a:noFill/>
        </p:spPr>
        <p:txBody>
          <a:bodyPr wrap="square">
            <a:spAutoFit/>
          </a:bodyPr>
          <a:lstStyle/>
          <a:p>
            <a:r>
              <a:rPr lang="en-US" dirty="0" err="1">
                <a:hlinkClick r:id="rId4"/>
              </a:rPr>
              <a:t>Devpal's</a:t>
            </a:r>
            <a:r>
              <a:rPr lang="en-US" dirty="0">
                <a:hlinkClick r:id="rId4"/>
              </a:rPr>
              <a:t> </a:t>
            </a:r>
            <a:r>
              <a:rPr lang="en-US" dirty="0" err="1">
                <a:hlinkClick r:id="rId4"/>
              </a:rPr>
              <a:t>Seasonal_Agriculture_Performance_Analysis.ipynb</a:t>
            </a:r>
            <a:endParaRPr lang="en-US" dirty="0"/>
          </a:p>
        </p:txBody>
      </p:sp>
    </p:spTree>
    <p:extLst>
      <p:ext uri="{BB962C8B-B14F-4D97-AF65-F5344CB8AC3E}">
        <p14:creationId xmlns:p14="http://schemas.microsoft.com/office/powerpoint/2010/main" val="528136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E6AAA70-375B-F964-F779-8C2DD25C5ACF}"/>
              </a:ext>
            </a:extLst>
          </p:cNvPr>
          <p:cNvPicPr>
            <a:picLocks noChangeAspect="1"/>
          </p:cNvPicPr>
          <p:nvPr/>
        </p:nvPicPr>
        <p:blipFill>
          <a:blip r:embed="rId3"/>
          <a:stretch>
            <a:fillRect/>
          </a:stretch>
        </p:blipFill>
        <p:spPr>
          <a:xfrm>
            <a:off x="1447800" y="1371150"/>
            <a:ext cx="7361558" cy="519729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71af3243-3dd4-4a8d-8c0d-dd76da1f02a5"/>
    <ds:schemaRef ds:uri="16c05727-aa75-4e4a-9b5f-8a80a1165891"/>
    <ds:schemaRef ds:uri="http://purl.org/dc/terms/"/>
    <ds:schemaRef ds:uri="http://purl.org/dc/elements/1.1/"/>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Facet</Template>
  <TotalTime>1728</TotalTime>
  <Words>1156</Words>
  <Application>Microsoft Office PowerPoint</Application>
  <PresentationFormat>Widescreen</PresentationFormat>
  <Paragraphs>81</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Times New Roman</vt:lpstr>
      <vt:lpstr>Trebuchet MS</vt:lpstr>
      <vt:lpstr>Trebuchet MS (body)</vt:lpstr>
      <vt:lpstr>Wingdings</vt:lpstr>
      <vt:lpstr>Wingdings 3</vt:lpstr>
      <vt:lpstr>Facet</vt:lpstr>
      <vt:lpstr>Seasonal Agriculture Performance Analysis</vt:lpstr>
      <vt:lpstr>PROBLEM  STATEMENT</vt:lpstr>
      <vt:lpstr>Project Description </vt:lpstr>
      <vt:lpstr>WHO ARE THE END USERS?</vt:lpstr>
      <vt:lpstr>Technology Used</vt:lpstr>
      <vt:lpstr>RESULTS</vt:lpstr>
      <vt:lpstr>RESULTS</vt:lpstr>
      <vt:lpstr>PowerPoint Presentation</vt:lpstr>
      <vt:lpstr>PowerPoint Presentation</vt:lpstr>
      <vt:lpstr>RESULTS</vt:lpstr>
      <vt:lpstr>Future scope</vt:lpstr>
      <vt:lpstr>Conclusion</vt:lpstr>
      <vt:lpstr>Google Colab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Devpal Singh Anand - [AA.SC.P2MCA25017005]</cp:lastModifiedBy>
  <cp:revision>110</cp:revision>
  <dcterms:created xsi:type="dcterms:W3CDTF">2021-07-11T13:13:15Z</dcterms:created>
  <dcterms:modified xsi:type="dcterms:W3CDTF">2026-09-15T16:45:57Z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